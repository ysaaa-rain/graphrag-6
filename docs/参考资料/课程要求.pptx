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4F3E1F-DF2A-497E-832A-180A585FF8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976462D-ED46-4CCF-BF1A-7A38ABECC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BA4D6A-CF01-4326-9108-F212092D4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7D840-41F0-46A1-97CA-333C1BE4630D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513821-4D95-498B-9DBA-D696258E1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D4DDCA-FF66-4180-B0DB-AF9B1E177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EA935-6C35-4E23-9C5B-DB69C12D16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3236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14A3CE-B0FF-4142-AD50-F50968F6B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2C48E3-D557-4901-A970-151CC7351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F46F2D-496E-415C-970D-628456BD8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7D840-41F0-46A1-97CA-333C1BE4630D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B75500-88E5-4CB6-B45F-8610CF247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49A6FE-0AFF-46F6-9E1A-A50901D6E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EA935-6C35-4E23-9C5B-DB69C12D16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2563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A417A3-FFD4-43B3-8230-A37C216C3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0A69AD-310F-44A5-A058-9240C1DD0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624835-B3C1-4579-ABED-575751D5C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7D840-41F0-46A1-97CA-333C1BE4630D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369027-20FB-4CCB-A9E0-72A69BB14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13F68C-C310-4998-B9EB-ED136DB47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EA935-6C35-4E23-9C5B-DB69C12D16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6531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CF90B7-E690-49C1-AE75-459A581ED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B7A5E5-1084-481F-B2B3-F63A525947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61477B3-5726-46CC-B25F-DC7AEA0C6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16B5A42-1B0F-4565-AF62-564A1D1F6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7D840-41F0-46A1-97CA-333C1BE4630D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3850ACD-106C-4DEA-B9B5-D294661C8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01B13A8-F7F4-4161-9FAA-0B71A9748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EA935-6C35-4E23-9C5B-DB69C12D16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033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4A18F4-223A-4BD5-B4E4-3EBC69857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E8CC4F9-160E-4B4A-B40F-47B98D8AB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B86C6AF-8F44-4D61-B2FA-71BBE5EE78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7C5AD50-0F49-405B-8BB1-556ED1660C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89D2CEA-EB5F-46FC-8FE4-6EC1B31A36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C3354C3-B2A9-4FE5-8AB4-D8B839076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7D840-41F0-46A1-97CA-333C1BE4630D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6293353-3148-4DDC-9DBD-BBDDE675D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AAD1CF8-35BA-4EC3-A838-3799BA245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EA935-6C35-4E23-9C5B-DB69C12D16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3674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92F69E-00BF-4095-98C8-B431170E6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F177DED-43C0-496D-9C6B-6C81FCD50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7D840-41F0-46A1-97CA-333C1BE4630D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C922407-23F7-4C71-88AD-CDE534C33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85BB187-02ED-49BB-8EDC-CE07B849B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EA935-6C35-4E23-9C5B-DB69C12D16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7435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395C6A-15D3-47B1-984A-772A2AE85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7D840-41F0-46A1-97CA-333C1BE4630D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1223796-CD5B-4C7D-990E-4E644384B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FE83BE-A2DD-4718-B89A-B013C4A21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EA935-6C35-4E23-9C5B-DB69C12D16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6981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CDC9BC-C4B2-48BA-8C2A-90D11DE30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484B96-6213-4A7A-A7F3-7D05B7D72E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E423F74-45D5-424C-9D4B-7957188FFA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F59D7BF-56E0-40CB-89AF-D7928D429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7D840-41F0-46A1-97CA-333C1BE4630D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7CEBA5E-CCD5-46AB-86CA-CD087D7DF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5C7775-A515-4874-A548-08093EA52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EA935-6C35-4E23-9C5B-DB69C12D16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3157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875201-51A9-48BC-879A-2D5A2B55A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BFE8D4D-33B1-4D6F-BBB6-CFF758804A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0565074-AA72-48A5-AC31-363747116A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CB024A-267B-4976-A7AD-B8E8EA6A1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7D840-41F0-46A1-97CA-333C1BE4630D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D309E2-AE68-4CB6-B218-6D21F8A41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70BBDDE-4CBB-4F7A-87BE-396C7CB5F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EA935-6C35-4E23-9C5B-DB69C12D16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4554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B5AB46-FF02-4BA8-AC4C-A2FF05C88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F35EC2D-46F3-415A-BEF6-5A8C979E0D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D88BB8-398E-44AB-85B0-FB5CBCAF7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7D840-41F0-46A1-97CA-333C1BE4630D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2CF94E-6D1B-4281-9B44-196265418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2DC1A0-176C-47D1-A172-EE4EBDBE4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EA935-6C35-4E23-9C5B-DB69C12D16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6200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CC330FA-9F28-4654-A934-7A69C0462A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C8FF972-E8A4-46A0-9E79-361E6E3A92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C5D4B2-3111-4C1D-97CF-FA0BF9E91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7D840-41F0-46A1-97CA-333C1BE4630D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30B1BD-CCF3-4BAD-8A37-7B74A83E9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D76F8C-9BEA-4C86-9559-528A66131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EA935-6C35-4E23-9C5B-DB69C12D16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42594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引入与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20">
            <a:extLst>
              <a:ext uri="{FF2B5EF4-FFF2-40B4-BE49-F238E27FC236}">
                <a16:creationId xmlns:a16="http://schemas.microsoft.com/office/drawing/2014/main" id="{EFB6BF17-C1F7-736D-5528-3296BEF7BD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9888" y="75907"/>
            <a:ext cx="9117012" cy="704850"/>
          </a:xfrm>
          <a:prstGeom prst="rect">
            <a:avLst/>
          </a:prstGeom>
        </p:spPr>
        <p:txBody>
          <a:bodyPr/>
          <a:lstStyle>
            <a:lvl1pPr>
              <a:buNone/>
              <a:defRPr lang="zh-CN" altLang="en-US" sz="3600" b="1" kern="1200" dirty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lvl="0"/>
            <a:r>
              <a:rPr lang="zh-CN" altLang="en-US" dirty="0"/>
              <a:t>单击此处添加标题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4911C27-1DD4-02BB-4796-CD055370C315}"/>
              </a:ext>
            </a:extLst>
          </p:cNvPr>
          <p:cNvSpPr/>
          <p:nvPr userDrawn="1"/>
        </p:nvSpPr>
        <p:spPr>
          <a:xfrm>
            <a:off x="285750" y="1104900"/>
            <a:ext cx="11601450" cy="51435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0E12E95-D9AD-3630-7191-89DEB5A9E27B}"/>
              </a:ext>
            </a:extLst>
          </p:cNvPr>
          <p:cNvSpPr/>
          <p:nvPr userDrawn="1"/>
        </p:nvSpPr>
        <p:spPr>
          <a:xfrm>
            <a:off x="285750" y="5676900"/>
            <a:ext cx="11601450" cy="4953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" name="文本占位符 11">
            <a:extLst>
              <a:ext uri="{FF2B5EF4-FFF2-40B4-BE49-F238E27FC236}">
                <a16:creationId xmlns:a16="http://schemas.microsoft.com/office/drawing/2014/main" id="{01E44853-ECF6-8BF1-43EC-4CCCABEBE4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85750" y="6286792"/>
            <a:ext cx="9848850" cy="337845"/>
          </a:xfrm>
          <a:prstGeom prst="rect">
            <a:avLst/>
          </a:prstGeom>
        </p:spPr>
        <p:txBody>
          <a:bodyPr/>
          <a:lstStyle>
            <a:lvl1pPr>
              <a:buNone/>
              <a:defRPr sz="120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en-US" altLang="zh-CN" dirty="0"/>
              <a:t>[1] ref</a:t>
            </a:r>
            <a:endParaRPr lang="zh-CN" altLang="en-US" dirty="0"/>
          </a:p>
        </p:txBody>
      </p:sp>
      <p:sp>
        <p:nvSpPr>
          <p:cNvPr id="25" name="文本占位符 24">
            <a:extLst>
              <a:ext uri="{FF2B5EF4-FFF2-40B4-BE49-F238E27FC236}">
                <a16:creationId xmlns:a16="http://schemas.microsoft.com/office/drawing/2014/main" id="{00685AB0-35DB-000E-3F31-8367A0FFACE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9888" y="1162050"/>
            <a:ext cx="11441112" cy="400050"/>
          </a:xfrm>
          <a:prstGeom prst="rect">
            <a:avLst/>
          </a:prstGeom>
        </p:spPr>
        <p:txBody>
          <a:bodyPr/>
          <a:lstStyle>
            <a:lvl1pPr>
              <a:lnSpc>
                <a:spcPct val="105000"/>
              </a:lnSpc>
              <a:spcAft>
                <a:spcPts val="0"/>
              </a:spcAft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引入与说明</a:t>
            </a:r>
          </a:p>
        </p:txBody>
      </p:sp>
      <p:sp>
        <p:nvSpPr>
          <p:cNvPr id="27" name="文本占位符 24">
            <a:extLst>
              <a:ext uri="{FF2B5EF4-FFF2-40B4-BE49-F238E27FC236}">
                <a16:creationId xmlns:a16="http://schemas.microsoft.com/office/drawing/2014/main" id="{FF12C516-37C3-D136-4E25-3BE2557CC15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5444" y="5721350"/>
            <a:ext cx="11441112" cy="400050"/>
          </a:xfrm>
          <a:prstGeom prst="rect">
            <a:avLst/>
          </a:prstGeom>
        </p:spPr>
        <p:txBody>
          <a:bodyPr/>
          <a:lstStyle>
            <a:lvl1pPr>
              <a:lnSpc>
                <a:spcPct val="105000"/>
              </a:lnSpc>
              <a:spcAft>
                <a:spcPts val="0"/>
              </a:spcAft>
              <a:buNone/>
              <a:defRPr sz="2400" b="1">
                <a:solidFill>
                  <a:srgbClr val="FFFF00"/>
                </a:solidFill>
              </a:defRPr>
            </a:lvl1pPr>
          </a:lstStyle>
          <a:p>
            <a:pPr lvl="0"/>
            <a:r>
              <a:rPr lang="zh-CN" altLang="en-US" dirty="0"/>
              <a:t>结论与总结</a:t>
            </a:r>
          </a:p>
        </p:txBody>
      </p:sp>
    </p:spTree>
    <p:extLst>
      <p:ext uri="{BB962C8B-B14F-4D97-AF65-F5344CB8AC3E}">
        <p14:creationId xmlns:p14="http://schemas.microsoft.com/office/powerpoint/2010/main" val="12864005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占位符 20">
            <a:extLst>
              <a:ext uri="{FF2B5EF4-FFF2-40B4-BE49-F238E27FC236}">
                <a16:creationId xmlns:a16="http://schemas.microsoft.com/office/drawing/2014/main" id="{E6B280AD-C4A4-73BB-C4C5-0948818E6A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9888" y="75907"/>
            <a:ext cx="9117012" cy="704850"/>
          </a:xfrm>
          <a:prstGeom prst="rect">
            <a:avLst/>
          </a:prstGeom>
        </p:spPr>
        <p:txBody>
          <a:bodyPr/>
          <a:lstStyle>
            <a:lvl1pPr>
              <a:buNone/>
              <a:defRPr lang="zh-CN" altLang="en-US" sz="3600" b="1" kern="1200" dirty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lvl="0"/>
            <a:r>
              <a:rPr lang="zh-CN" altLang="en-US" dirty="0"/>
              <a:t>单击此处添加标题</a:t>
            </a:r>
          </a:p>
        </p:txBody>
      </p:sp>
    </p:spTree>
    <p:extLst>
      <p:ext uri="{BB962C8B-B14F-4D97-AF65-F5344CB8AC3E}">
        <p14:creationId xmlns:p14="http://schemas.microsoft.com/office/powerpoint/2010/main" val="33918371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分点对比结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20">
            <a:extLst>
              <a:ext uri="{FF2B5EF4-FFF2-40B4-BE49-F238E27FC236}">
                <a16:creationId xmlns:a16="http://schemas.microsoft.com/office/drawing/2014/main" id="{D012DF08-2BA4-E4ED-3D90-09B4CB48F5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9888" y="75907"/>
            <a:ext cx="9117012" cy="704850"/>
          </a:xfrm>
          <a:prstGeom prst="rect">
            <a:avLst/>
          </a:prstGeom>
        </p:spPr>
        <p:txBody>
          <a:bodyPr/>
          <a:lstStyle>
            <a:lvl1pPr>
              <a:buNone/>
              <a:defRPr lang="zh-CN" altLang="en-US" sz="3600" b="1" kern="1200" dirty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lvl="0"/>
            <a:r>
              <a:rPr lang="zh-CN" altLang="en-US" dirty="0"/>
              <a:t>单击此处添加标题</a:t>
            </a:r>
          </a:p>
        </p:txBody>
      </p:sp>
      <p:sp>
        <p:nvSpPr>
          <p:cNvPr id="19" name="内容占位符 9">
            <a:extLst>
              <a:ext uri="{FF2B5EF4-FFF2-40B4-BE49-F238E27FC236}">
                <a16:creationId xmlns:a16="http://schemas.microsoft.com/office/drawing/2014/main" id="{93F5C17C-16F0-5BA5-60D7-062B45C99CA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85750" y="1181100"/>
            <a:ext cx="11734800" cy="1104900"/>
          </a:xfrm>
          <a:prstGeom prst="rect">
            <a:avLst/>
          </a:prstGeom>
        </p:spPr>
        <p:txBody>
          <a:bodyPr/>
          <a:lstStyle>
            <a:lvl1pPr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论点</a:t>
            </a:r>
            <a:r>
              <a:rPr lang="en-US" altLang="zh-CN" dirty="0"/>
              <a:t>1</a:t>
            </a:r>
          </a:p>
          <a:p>
            <a:pPr lvl="0"/>
            <a:r>
              <a:rPr lang="zh-CN" altLang="en-US" dirty="0"/>
              <a:t>论点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20" name="内容占位符 9">
            <a:extLst>
              <a:ext uri="{FF2B5EF4-FFF2-40B4-BE49-F238E27FC236}">
                <a16:creationId xmlns:a16="http://schemas.microsoft.com/office/drawing/2014/main" id="{3BDE26C3-6278-0E59-FE06-9B2A2D3F686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285750" y="2609850"/>
            <a:ext cx="5543550" cy="2876550"/>
          </a:xfrm>
          <a:prstGeom prst="rect">
            <a:avLst/>
          </a:prstGeom>
        </p:spPr>
        <p:txBody>
          <a:bodyPr/>
          <a:lstStyle>
            <a:lvl1pPr>
              <a:buFont typeface="Wingdings" panose="05000000000000000000" pitchFamily="2" charset="2"/>
              <a:buNone/>
              <a:defRPr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对比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1" name="内容占位符 9">
            <a:extLst>
              <a:ext uri="{FF2B5EF4-FFF2-40B4-BE49-F238E27FC236}">
                <a16:creationId xmlns:a16="http://schemas.microsoft.com/office/drawing/2014/main" id="{9058536D-A779-6693-44E4-6B17E3A2078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86500" y="2609850"/>
            <a:ext cx="5543550" cy="2876550"/>
          </a:xfrm>
          <a:prstGeom prst="rect">
            <a:avLst/>
          </a:prstGeom>
        </p:spPr>
        <p:txBody>
          <a:bodyPr/>
          <a:lstStyle>
            <a:lvl1pPr>
              <a:buFont typeface="Wingdings" panose="05000000000000000000" pitchFamily="2" charset="2"/>
              <a:buNone/>
              <a:defRPr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对比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23" name="内容占位符 9">
            <a:extLst>
              <a:ext uri="{FF2B5EF4-FFF2-40B4-BE49-F238E27FC236}">
                <a16:creationId xmlns:a16="http://schemas.microsoft.com/office/drawing/2014/main" id="{B7FB64A9-5EF2-1761-298B-2CA7FE6B36D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85750" y="5753100"/>
            <a:ext cx="11544300" cy="419100"/>
          </a:xfrm>
          <a:prstGeom prst="rect">
            <a:avLst/>
          </a:prstGeom>
        </p:spPr>
        <p:txBody>
          <a:bodyPr/>
          <a:lstStyle>
            <a:lvl1pPr>
              <a:buFont typeface="Wingdings" panose="05000000000000000000" pitchFamily="2" charset="2"/>
              <a:buNone/>
              <a:defRPr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结论</a:t>
            </a:r>
          </a:p>
        </p:txBody>
      </p:sp>
      <p:sp>
        <p:nvSpPr>
          <p:cNvPr id="24" name="文本占位符 11">
            <a:extLst>
              <a:ext uri="{FF2B5EF4-FFF2-40B4-BE49-F238E27FC236}">
                <a16:creationId xmlns:a16="http://schemas.microsoft.com/office/drawing/2014/main" id="{CF47EAD1-E8B3-12A8-135B-B1B2BCF6AA7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85750" y="6286792"/>
            <a:ext cx="9848850" cy="337845"/>
          </a:xfrm>
          <a:prstGeom prst="rect">
            <a:avLst/>
          </a:prstGeom>
        </p:spPr>
        <p:txBody>
          <a:bodyPr/>
          <a:lstStyle>
            <a:lvl1pPr>
              <a:buNone/>
              <a:defRPr sz="120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en-US" altLang="zh-CN" dirty="0"/>
              <a:t>[1] ref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95494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40BF475-E472-4211-94D2-413995C20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627DB24-F5D0-49DE-8475-6EF56DC06F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CE0DDD-DB98-4DCE-BAA6-DBAC8D9CE8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B7D840-41F0-46A1-97CA-333C1BE4630D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2A3EE2-A55B-4536-B2AE-23C504C351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302283-CEA7-417B-910B-11FBD8B00B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9EA935-6C35-4E23-9C5B-DB69C12D16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379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Relationship Id="rId4" Type="http://schemas.openxmlformats.org/officeDocument/2006/relationships/hyperlink" Target="https://gitee.com/tjudb/2026graphrag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F901D2-C98C-4852-BD3F-4D3F8C72D3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知识工程综合实践</a:t>
            </a:r>
            <a:r>
              <a:rPr lang="en-US" altLang="zh-CN" dirty="0"/>
              <a:t>》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B8CCB54-0E9F-48CA-AC7B-788282082F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1255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C9653A-F9B2-42A2-9B43-B1539AEEA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课程</a:t>
            </a:r>
            <a:r>
              <a:rPr lang="zh-CN" altLang="zh-CN" sz="4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要求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8248D9-E06E-4D13-8435-B5483C009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 algn="just">
              <a:spcAft>
                <a:spcPts val="1200"/>
              </a:spcAft>
              <a:buFont typeface="+mj-lt"/>
              <a:buAutoNum type="arabicPeriod"/>
            </a:pPr>
            <a:r>
              <a:rPr lang="zh-CN" altLang="zh-CN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采用项目制方式，要求</a:t>
            </a:r>
            <a:r>
              <a:rPr lang="en-US" altLang="zh-CN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4-5</a:t>
            </a:r>
            <a:r>
              <a:rPr lang="zh-CN" altLang="zh-CN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人组成一个小组，提出要开发的系统功能（自主选题），设计与实现系统。注意：不能与已有项目雷同。</a:t>
            </a:r>
          </a:p>
          <a:p>
            <a:pPr marL="342900" lvl="0" indent="-342900" algn="just">
              <a:spcAft>
                <a:spcPts val="1200"/>
              </a:spcAft>
              <a:buFont typeface="+mj-lt"/>
              <a:buAutoNum type="arabicPeriod"/>
            </a:pPr>
            <a:r>
              <a:rPr lang="zh-CN" altLang="zh-CN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可以使用</a:t>
            </a:r>
            <a:r>
              <a:rPr lang="en-US" altLang="zh-CN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AI</a:t>
            </a:r>
            <a:r>
              <a:rPr lang="zh-CN" altLang="zh-CN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辅助编程，但需要理解掌握生成代码，答辩时如讲不清楚</a:t>
            </a:r>
            <a:r>
              <a:rPr lang="en-US" altLang="zh-CN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AI</a:t>
            </a:r>
            <a:r>
              <a:rPr lang="zh-CN" altLang="zh-CN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生成代码，按不合格记。</a:t>
            </a:r>
          </a:p>
          <a:p>
            <a:pPr marL="342900" lvl="0" indent="-342900" algn="just">
              <a:spcAft>
                <a:spcPts val="1200"/>
              </a:spcAft>
              <a:buFont typeface="+mj-lt"/>
              <a:buAutoNum type="arabicPeriod"/>
            </a:pPr>
            <a:r>
              <a:rPr lang="zh-CN" altLang="zh-CN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使用</a:t>
            </a:r>
            <a:r>
              <a:rPr lang="en-US" altLang="zh-CN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Gitee</a:t>
            </a:r>
            <a:r>
              <a:rPr lang="zh-CN" altLang="zh-CN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Github</a:t>
            </a:r>
            <a:r>
              <a:rPr lang="zh-CN" altLang="zh-CN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开源代码管理系统进行协同开发与代码管理。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10694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5E744B-6192-4D29-9734-7E25744E9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92CEC7-A2EF-45DD-B4C9-6B0C7578F4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FC87691-E0D1-47DD-BFB3-69D9B5B61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936" y="929391"/>
            <a:ext cx="9619397" cy="4999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689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5E744B-6192-4D29-9734-7E25744E9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92CEC7-A2EF-45DD-B4C9-6B0C7578F4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DA7E062-6595-4496-83E2-53F874F5E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812" y="1217286"/>
            <a:ext cx="9892375" cy="5104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784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60C57A7-12A1-0525-FABA-2B64315642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 err="1">
                <a:solidFill>
                  <a:srgbClr val="7030A0"/>
                </a:solidFill>
                <a:effectLst/>
              </a:rPr>
              <a:t>GraphRAG</a:t>
            </a:r>
            <a:r>
              <a:rPr lang="zh-CN" altLang="en-US" dirty="0">
                <a:solidFill>
                  <a:srgbClr val="7030A0"/>
                </a:solidFill>
                <a:effectLst/>
              </a:rPr>
              <a:t>系统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9BAEC40-91F4-CE69-920C-5C07501D828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dirty="0" err="1"/>
              <a:t>GraphRAG</a:t>
            </a:r>
            <a:r>
              <a:rPr lang="zh-CN" altLang="en-US" dirty="0"/>
              <a:t>系统至少存在的组件：</a:t>
            </a:r>
            <a:r>
              <a:rPr lang="en-US" altLang="zh-CN" dirty="0"/>
              <a:t>KG</a:t>
            </a:r>
            <a:r>
              <a:rPr lang="zh-CN" altLang="en-US" dirty="0"/>
              <a:t>构建、检索器、</a:t>
            </a:r>
            <a:r>
              <a:rPr lang="en-US" altLang="zh-CN" dirty="0"/>
              <a:t>LLM</a:t>
            </a: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CA32576-80DF-83B4-0CA6-105B201A492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dirty="0"/>
              <a:t>需要选定三个大组件：提取关系</a:t>
            </a:r>
            <a:r>
              <a:rPr lang="en-US" altLang="zh-CN" dirty="0"/>
              <a:t>/</a:t>
            </a:r>
            <a:r>
              <a:rPr lang="zh-CN" altLang="en-US" dirty="0"/>
              <a:t>实体，检索方式，知识注入形式</a:t>
            </a: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17744C90-BE34-7B93-A225-0398F726321E}"/>
              </a:ext>
            </a:extLst>
          </p:cNvPr>
          <p:cNvGrpSpPr/>
          <p:nvPr/>
        </p:nvGrpSpPr>
        <p:grpSpPr>
          <a:xfrm>
            <a:off x="324853" y="1979505"/>
            <a:ext cx="3212431" cy="3518927"/>
            <a:chOff x="324853" y="1979505"/>
            <a:chExt cx="3212431" cy="3518927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41E5136B-DF11-0232-8A5D-8EA6E4F558A9}"/>
                </a:ext>
              </a:extLst>
            </p:cNvPr>
            <p:cNvSpPr/>
            <p:nvPr/>
          </p:nvSpPr>
          <p:spPr>
            <a:xfrm>
              <a:off x="324853" y="2015289"/>
              <a:ext cx="3212431" cy="3483143"/>
            </a:xfrm>
            <a:prstGeom prst="roundRect">
              <a:avLst>
                <a:gd name="adj" fmla="val 7116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3691661F-6001-1FD7-C041-AF7022092C2D}"/>
                </a:ext>
              </a:extLst>
            </p:cNvPr>
            <p:cNvSpPr/>
            <p:nvPr/>
          </p:nvSpPr>
          <p:spPr>
            <a:xfrm>
              <a:off x="559468" y="2637924"/>
              <a:ext cx="920415" cy="55946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文本</a:t>
              </a:r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8B3BB121-F9C2-BE1F-A8F9-225CB84AC2F9}"/>
                </a:ext>
              </a:extLst>
            </p:cNvPr>
            <p:cNvSpPr/>
            <p:nvPr/>
          </p:nvSpPr>
          <p:spPr>
            <a:xfrm>
              <a:off x="2191753" y="2376237"/>
              <a:ext cx="920415" cy="55946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实体</a:t>
              </a:r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DB41BD49-763C-506F-2B96-201A31B90A4A}"/>
                </a:ext>
              </a:extLst>
            </p:cNvPr>
            <p:cNvSpPr/>
            <p:nvPr/>
          </p:nvSpPr>
          <p:spPr>
            <a:xfrm>
              <a:off x="2191753" y="2935705"/>
              <a:ext cx="920415" cy="55946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关系</a:t>
              </a:r>
            </a:p>
          </p:txBody>
        </p:sp>
        <p:cxnSp>
          <p:nvCxnSpPr>
            <p:cNvPr id="11" name="连接符: 肘形 10">
              <a:extLst>
                <a:ext uri="{FF2B5EF4-FFF2-40B4-BE49-F238E27FC236}">
                  <a16:creationId xmlns:a16="http://schemas.microsoft.com/office/drawing/2014/main" id="{6B49169C-F908-6795-46D1-361C75739568}"/>
                </a:ext>
              </a:extLst>
            </p:cNvPr>
            <p:cNvCxnSpPr>
              <a:stCxn id="7" idx="3"/>
              <a:endCxn id="8" idx="1"/>
            </p:cNvCxnSpPr>
            <p:nvPr/>
          </p:nvCxnSpPr>
          <p:spPr>
            <a:xfrm flipV="1">
              <a:off x="1479883" y="2655971"/>
              <a:ext cx="711870" cy="261687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连接符: 肘形 12">
              <a:extLst>
                <a:ext uri="{FF2B5EF4-FFF2-40B4-BE49-F238E27FC236}">
                  <a16:creationId xmlns:a16="http://schemas.microsoft.com/office/drawing/2014/main" id="{7869C01A-45D0-1952-2A9B-452AA1A7A170}"/>
                </a:ext>
              </a:extLst>
            </p:cNvPr>
            <p:cNvCxnSpPr>
              <a:stCxn id="7" idx="3"/>
              <a:endCxn id="9" idx="1"/>
            </p:cNvCxnSpPr>
            <p:nvPr/>
          </p:nvCxnSpPr>
          <p:spPr>
            <a:xfrm>
              <a:off x="1479883" y="2917658"/>
              <a:ext cx="711870" cy="297781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2E3726DF-F09B-EC24-2257-D212073DAD0E}"/>
                </a:ext>
              </a:extLst>
            </p:cNvPr>
            <p:cNvSpPr txBox="1"/>
            <p:nvPr/>
          </p:nvSpPr>
          <p:spPr>
            <a:xfrm>
              <a:off x="822657" y="2351901"/>
              <a:ext cx="18588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/>
                <a:t>实体</a:t>
              </a:r>
              <a:r>
                <a:rPr lang="en-US" altLang="zh-CN" sz="1200" dirty="0"/>
                <a:t>/</a:t>
              </a:r>
              <a:r>
                <a:rPr lang="zh-CN" altLang="en-US" sz="1200" dirty="0"/>
                <a:t>关系抽取</a:t>
              </a: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D736740B-52E1-9C75-96F4-5D43FD1D79E9}"/>
                </a:ext>
              </a:extLst>
            </p:cNvPr>
            <p:cNvSpPr/>
            <p:nvPr/>
          </p:nvSpPr>
          <p:spPr>
            <a:xfrm>
              <a:off x="431132" y="3801978"/>
              <a:ext cx="2907631" cy="39704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图谱存储</a:t>
              </a:r>
            </a:p>
          </p:txBody>
        </p:sp>
        <p:cxnSp>
          <p:nvCxnSpPr>
            <p:cNvPr id="17" name="连接符: 肘形 16">
              <a:extLst>
                <a:ext uri="{FF2B5EF4-FFF2-40B4-BE49-F238E27FC236}">
                  <a16:creationId xmlns:a16="http://schemas.microsoft.com/office/drawing/2014/main" id="{2CCD1838-23D5-D4D1-9A4C-BE8F6F8F429C}"/>
                </a:ext>
              </a:extLst>
            </p:cNvPr>
            <p:cNvCxnSpPr>
              <a:stCxn id="9" idx="2"/>
              <a:endCxn id="15" idx="0"/>
            </p:cNvCxnSpPr>
            <p:nvPr/>
          </p:nvCxnSpPr>
          <p:spPr>
            <a:xfrm rot="5400000">
              <a:off x="2115053" y="3265069"/>
              <a:ext cx="306805" cy="767013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3A7E9720-F669-B71C-F221-C9C6B0C177D7}"/>
                </a:ext>
              </a:extLst>
            </p:cNvPr>
            <p:cNvSpPr/>
            <p:nvPr/>
          </p:nvSpPr>
          <p:spPr>
            <a:xfrm>
              <a:off x="2070433" y="4587037"/>
              <a:ext cx="1268330" cy="39704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全文索引</a:t>
              </a:r>
            </a:p>
          </p:txBody>
        </p:sp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5B0F98C7-2436-0662-74E5-7D62187B0E5D}"/>
                </a:ext>
              </a:extLst>
            </p:cNvPr>
            <p:cNvSpPr/>
            <p:nvPr/>
          </p:nvSpPr>
          <p:spPr>
            <a:xfrm>
              <a:off x="449179" y="4578012"/>
              <a:ext cx="1268330" cy="39704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向量索引</a:t>
              </a:r>
            </a:p>
          </p:txBody>
        </p:sp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A40D16BB-1F31-30D5-CCB7-061437D3A196}"/>
                </a:ext>
              </a:extLst>
            </p:cNvPr>
            <p:cNvSpPr/>
            <p:nvPr/>
          </p:nvSpPr>
          <p:spPr>
            <a:xfrm>
              <a:off x="449179" y="5042738"/>
              <a:ext cx="1268330" cy="39704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查询索引</a:t>
              </a:r>
            </a:p>
          </p:txBody>
        </p:sp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9845CCBC-84E3-3778-B00D-458CD1015399}"/>
                </a:ext>
              </a:extLst>
            </p:cNvPr>
            <p:cNvSpPr/>
            <p:nvPr/>
          </p:nvSpPr>
          <p:spPr>
            <a:xfrm>
              <a:off x="2070433" y="5033712"/>
              <a:ext cx="1268330" cy="39704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全文存储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2395A534-777E-3940-710A-B0AFB4582F43}"/>
                </a:ext>
              </a:extLst>
            </p:cNvPr>
            <p:cNvSpPr txBox="1"/>
            <p:nvPr/>
          </p:nvSpPr>
          <p:spPr>
            <a:xfrm>
              <a:off x="449179" y="3476239"/>
              <a:ext cx="18588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/>
                <a:t>图谱存储</a:t>
              </a:r>
            </a:p>
          </p:txBody>
        </p:sp>
        <p:cxnSp>
          <p:nvCxnSpPr>
            <p:cNvPr id="24" name="连接符: 肘形 23">
              <a:extLst>
                <a:ext uri="{FF2B5EF4-FFF2-40B4-BE49-F238E27FC236}">
                  <a16:creationId xmlns:a16="http://schemas.microsoft.com/office/drawing/2014/main" id="{E754A889-6F9D-C612-7BD7-82E690DA3279}"/>
                </a:ext>
              </a:extLst>
            </p:cNvPr>
            <p:cNvCxnSpPr>
              <a:cxnSpLocks/>
              <a:stCxn id="15" idx="2"/>
              <a:endCxn id="19" idx="0"/>
            </p:cNvCxnSpPr>
            <p:nvPr/>
          </p:nvCxnSpPr>
          <p:spPr>
            <a:xfrm rot="5400000">
              <a:off x="1294650" y="3987713"/>
              <a:ext cx="378993" cy="801604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连接符: 肘形 25">
              <a:extLst>
                <a:ext uri="{FF2B5EF4-FFF2-40B4-BE49-F238E27FC236}">
                  <a16:creationId xmlns:a16="http://schemas.microsoft.com/office/drawing/2014/main" id="{F3DE870D-E2A9-B998-908E-161F9AAE6206}"/>
                </a:ext>
              </a:extLst>
            </p:cNvPr>
            <p:cNvCxnSpPr>
              <a:cxnSpLocks/>
              <a:stCxn id="15" idx="2"/>
              <a:endCxn id="18" idx="0"/>
            </p:cNvCxnSpPr>
            <p:nvPr/>
          </p:nvCxnSpPr>
          <p:spPr>
            <a:xfrm rot="16200000" flipH="1">
              <a:off x="2100764" y="3983203"/>
              <a:ext cx="388018" cy="819650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862188BF-04BB-A1EF-2266-2C23FC048944}"/>
                </a:ext>
              </a:extLst>
            </p:cNvPr>
            <p:cNvSpPr txBox="1"/>
            <p:nvPr/>
          </p:nvSpPr>
          <p:spPr>
            <a:xfrm>
              <a:off x="1019675" y="4350647"/>
              <a:ext cx="18588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/>
                <a:t>嵌入计算</a:t>
              </a: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1838B752-1A4A-982D-053D-0558DB621C69}"/>
                </a:ext>
              </a:extLst>
            </p:cNvPr>
            <p:cNvSpPr txBox="1"/>
            <p:nvPr/>
          </p:nvSpPr>
          <p:spPr>
            <a:xfrm>
              <a:off x="906378" y="1979505"/>
              <a:ext cx="185887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rgbClr val="7030A0"/>
                  </a:solidFill>
                </a:rPr>
                <a:t>知识图谱构建</a:t>
              </a:r>
            </a:p>
          </p:txBody>
        </p:sp>
      </p:grpSp>
      <p:sp>
        <p:nvSpPr>
          <p:cNvPr id="56" name="文本框 55">
            <a:extLst>
              <a:ext uri="{FF2B5EF4-FFF2-40B4-BE49-F238E27FC236}">
                <a16:creationId xmlns:a16="http://schemas.microsoft.com/office/drawing/2014/main" id="{0E4294DE-DE42-E57F-21FC-0FC68625FDA6}"/>
              </a:ext>
            </a:extLst>
          </p:cNvPr>
          <p:cNvSpPr txBox="1"/>
          <p:nvPr/>
        </p:nvSpPr>
        <p:spPr>
          <a:xfrm>
            <a:off x="4554818" y="3603109"/>
            <a:ext cx="8364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/>
              <a:t>基于文本</a:t>
            </a:r>
          </a:p>
        </p:txBody>
      </p: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379701BC-551B-7018-E8AC-D1BEC8F2EE05}"/>
              </a:ext>
            </a:extLst>
          </p:cNvPr>
          <p:cNvGrpSpPr/>
          <p:nvPr/>
        </p:nvGrpSpPr>
        <p:grpSpPr>
          <a:xfrm>
            <a:off x="4437868" y="1961284"/>
            <a:ext cx="3331382" cy="3518927"/>
            <a:chOff x="4571498" y="1943393"/>
            <a:chExt cx="3331382" cy="3518927"/>
          </a:xfrm>
        </p:grpSpPr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35DB4E5A-F8B7-1AFD-7F27-2CF800CC0948}"/>
                </a:ext>
              </a:extLst>
            </p:cNvPr>
            <p:cNvSpPr/>
            <p:nvPr/>
          </p:nvSpPr>
          <p:spPr>
            <a:xfrm>
              <a:off x="4571498" y="1979177"/>
              <a:ext cx="3212431" cy="3483143"/>
            </a:xfrm>
            <a:prstGeom prst="roundRect">
              <a:avLst>
                <a:gd name="adj" fmla="val 7116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74CBAC8B-C435-D3C3-E81D-ADC78C4C1127}"/>
                </a:ext>
              </a:extLst>
            </p:cNvPr>
            <p:cNvSpPr txBox="1"/>
            <p:nvPr/>
          </p:nvSpPr>
          <p:spPr>
            <a:xfrm>
              <a:off x="5248273" y="1943393"/>
              <a:ext cx="185887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rgbClr val="7030A0"/>
                  </a:solidFill>
                </a:rPr>
                <a:t>检索器</a:t>
              </a:r>
            </a:p>
          </p:txBody>
        </p:sp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0D26EF97-D935-E4B6-8327-271971BD4119}"/>
                </a:ext>
              </a:extLst>
            </p:cNvPr>
            <p:cNvSpPr/>
            <p:nvPr/>
          </p:nvSpPr>
          <p:spPr>
            <a:xfrm>
              <a:off x="4818646" y="2504865"/>
              <a:ext cx="1038728" cy="111281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Vector</a:t>
              </a:r>
              <a:endParaRPr lang="zh-CN" altLang="en-US" b="1" dirty="0"/>
            </a:p>
          </p:txBody>
        </p: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AC51B761-969C-62CE-7A5C-A538091F788C}"/>
                </a:ext>
              </a:extLst>
            </p:cNvPr>
            <p:cNvCxnSpPr>
              <a:cxnSpLocks/>
              <a:stCxn id="33" idx="1"/>
              <a:endCxn id="33" idx="3"/>
            </p:cNvCxnSpPr>
            <p:nvPr/>
          </p:nvCxnSpPr>
          <p:spPr>
            <a:xfrm>
              <a:off x="4571498" y="3720749"/>
              <a:ext cx="32124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3EB3274E-7B5E-5421-7D19-D01EEC36D58E}"/>
                </a:ext>
              </a:extLst>
            </p:cNvPr>
            <p:cNvSpPr txBox="1"/>
            <p:nvPr/>
          </p:nvSpPr>
          <p:spPr>
            <a:xfrm>
              <a:off x="7024298" y="3591078"/>
              <a:ext cx="8785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/>
                <a:t>基于图谱</a:t>
              </a:r>
            </a:p>
          </p:txBody>
        </p: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967783C7-0261-022B-446D-2F0115E85ACF}"/>
                </a:ext>
              </a:extLst>
            </p:cNvPr>
            <p:cNvCxnSpPr>
              <a:cxnSpLocks/>
              <a:stCxn id="50" idx="2"/>
              <a:endCxn id="33" idx="2"/>
            </p:cNvCxnSpPr>
            <p:nvPr/>
          </p:nvCxnSpPr>
          <p:spPr>
            <a:xfrm>
              <a:off x="6177713" y="2281947"/>
              <a:ext cx="1" cy="318037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7BD87019-8CBB-185D-5A20-A76B2BFFA90D}"/>
                </a:ext>
              </a:extLst>
            </p:cNvPr>
            <p:cNvSpPr txBox="1"/>
            <p:nvPr/>
          </p:nvSpPr>
          <p:spPr>
            <a:xfrm>
              <a:off x="5248273" y="2259907"/>
              <a:ext cx="18588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/>
                <a:t>基于向量</a:t>
              </a:r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79E86FB8-D5CD-1C76-7757-9220C44D1DDA}"/>
                </a:ext>
              </a:extLst>
            </p:cNvPr>
            <p:cNvSpPr txBox="1"/>
            <p:nvPr/>
          </p:nvSpPr>
          <p:spPr>
            <a:xfrm>
              <a:off x="5278853" y="5176337"/>
              <a:ext cx="18588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/>
                <a:t>基于向量</a:t>
              </a:r>
              <a:r>
                <a:rPr lang="en-US" altLang="zh-CN" sz="1200" dirty="0"/>
                <a:t>+</a:t>
              </a:r>
              <a:r>
                <a:rPr lang="zh-CN" altLang="en-US" sz="1200" dirty="0"/>
                <a:t>文本混合</a:t>
              </a:r>
            </a:p>
          </p:txBody>
        </p:sp>
        <p:sp>
          <p:nvSpPr>
            <p:cNvPr id="62" name="矩形: 圆角 61">
              <a:extLst>
                <a:ext uri="{FF2B5EF4-FFF2-40B4-BE49-F238E27FC236}">
                  <a16:creationId xmlns:a16="http://schemas.microsoft.com/office/drawing/2014/main" id="{508424F1-6937-6BE8-0408-48BE85378E95}"/>
                </a:ext>
              </a:extLst>
            </p:cNvPr>
            <p:cNvSpPr/>
            <p:nvPr/>
          </p:nvSpPr>
          <p:spPr>
            <a:xfrm>
              <a:off x="6221826" y="2525678"/>
              <a:ext cx="1084352" cy="111281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 err="1"/>
                <a:t>VectorCypher</a:t>
              </a:r>
              <a:endParaRPr lang="zh-CN" altLang="en-US" b="1" dirty="0"/>
            </a:p>
          </p:txBody>
        </p:sp>
        <p:sp>
          <p:nvSpPr>
            <p:cNvPr id="63" name="矩形: 圆角 62">
              <a:extLst>
                <a:ext uri="{FF2B5EF4-FFF2-40B4-BE49-F238E27FC236}">
                  <a16:creationId xmlns:a16="http://schemas.microsoft.com/office/drawing/2014/main" id="{8D05F4B6-F011-5627-3FBC-190A874CAB1D}"/>
                </a:ext>
              </a:extLst>
            </p:cNvPr>
            <p:cNvSpPr/>
            <p:nvPr/>
          </p:nvSpPr>
          <p:spPr>
            <a:xfrm>
              <a:off x="4765506" y="3920894"/>
              <a:ext cx="1084352" cy="111281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Hybrid</a:t>
              </a:r>
              <a:endParaRPr lang="zh-CN" altLang="en-US" b="1" dirty="0"/>
            </a:p>
          </p:txBody>
        </p:sp>
        <p:sp>
          <p:nvSpPr>
            <p:cNvPr id="64" name="矩形: 圆角 63">
              <a:extLst>
                <a:ext uri="{FF2B5EF4-FFF2-40B4-BE49-F238E27FC236}">
                  <a16:creationId xmlns:a16="http://schemas.microsoft.com/office/drawing/2014/main" id="{828768F0-7831-B248-9938-CD08C077C945}"/>
                </a:ext>
              </a:extLst>
            </p:cNvPr>
            <p:cNvSpPr/>
            <p:nvPr/>
          </p:nvSpPr>
          <p:spPr>
            <a:xfrm>
              <a:off x="6237122" y="3944132"/>
              <a:ext cx="1084352" cy="111281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 err="1"/>
                <a:t>HybridCypher</a:t>
              </a:r>
              <a:endParaRPr lang="zh-CN" altLang="en-US" b="1" dirty="0"/>
            </a:p>
          </p:txBody>
        </p:sp>
      </p:grp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0885CC40-4AE9-4192-3C20-3A80885F1C01}"/>
              </a:ext>
            </a:extLst>
          </p:cNvPr>
          <p:cNvCxnSpPr>
            <a:cxnSpLocks/>
          </p:cNvCxnSpPr>
          <p:nvPr/>
        </p:nvCxnSpPr>
        <p:spPr>
          <a:xfrm flipV="1">
            <a:off x="3537284" y="3712630"/>
            <a:ext cx="900584" cy="18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FCB62D47-1A77-9EA9-E13D-4A838102D95D}"/>
              </a:ext>
            </a:extLst>
          </p:cNvPr>
          <p:cNvSpPr/>
          <p:nvPr/>
        </p:nvSpPr>
        <p:spPr>
          <a:xfrm>
            <a:off x="8601254" y="1979177"/>
            <a:ext cx="3212431" cy="3483143"/>
          </a:xfrm>
          <a:prstGeom prst="roundRect">
            <a:avLst>
              <a:gd name="adj" fmla="val 711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98C7C994-D7BC-7A73-EFFD-5DA3B46C89E6}"/>
              </a:ext>
            </a:extLst>
          </p:cNvPr>
          <p:cNvSpPr txBox="1"/>
          <p:nvPr/>
        </p:nvSpPr>
        <p:spPr>
          <a:xfrm>
            <a:off x="9278029" y="1943393"/>
            <a:ext cx="18588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7030A0"/>
                </a:solidFill>
              </a:rPr>
              <a:t>LLM</a:t>
            </a:r>
            <a:endParaRPr lang="zh-CN" altLang="en-US" sz="1600" b="1" dirty="0">
              <a:solidFill>
                <a:srgbClr val="7030A0"/>
              </a:solidFill>
            </a:endParaRPr>
          </a:p>
        </p:txBody>
      </p: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6B1DA681-FEA9-A98C-8597-E961A00E6243}"/>
              </a:ext>
            </a:extLst>
          </p:cNvPr>
          <p:cNvCxnSpPr>
            <a:cxnSpLocks/>
            <a:endCxn id="69" idx="1"/>
          </p:cNvCxnSpPr>
          <p:nvPr/>
        </p:nvCxnSpPr>
        <p:spPr>
          <a:xfrm flipV="1">
            <a:off x="7641236" y="3720749"/>
            <a:ext cx="960018" cy="256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矩形: 圆角 84">
            <a:extLst>
              <a:ext uri="{FF2B5EF4-FFF2-40B4-BE49-F238E27FC236}">
                <a16:creationId xmlns:a16="http://schemas.microsoft.com/office/drawing/2014/main" id="{AA1B15FC-0561-CFDA-C733-58CE1FA6D33E}"/>
              </a:ext>
            </a:extLst>
          </p:cNvPr>
          <p:cNvSpPr/>
          <p:nvPr/>
        </p:nvSpPr>
        <p:spPr>
          <a:xfrm>
            <a:off x="9486900" y="2424202"/>
            <a:ext cx="1351644" cy="11128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/>
              <a:t>Retrived</a:t>
            </a:r>
            <a:endParaRPr lang="en-US" altLang="zh-CN" b="1" dirty="0"/>
          </a:p>
          <a:p>
            <a:pPr algn="ctr"/>
            <a:r>
              <a:rPr lang="en-US" altLang="zh-CN" b="1" dirty="0"/>
              <a:t>KG</a:t>
            </a:r>
            <a:endParaRPr lang="zh-CN" altLang="en-US" b="1" dirty="0"/>
          </a:p>
        </p:txBody>
      </p:sp>
      <p:sp>
        <p:nvSpPr>
          <p:cNvPr id="86" name="矩形: 圆角 85">
            <a:extLst>
              <a:ext uri="{FF2B5EF4-FFF2-40B4-BE49-F238E27FC236}">
                <a16:creationId xmlns:a16="http://schemas.microsoft.com/office/drawing/2014/main" id="{DE505C9F-7A49-B0DF-ADF9-411566892E1C}"/>
              </a:ext>
            </a:extLst>
          </p:cNvPr>
          <p:cNvSpPr/>
          <p:nvPr/>
        </p:nvSpPr>
        <p:spPr>
          <a:xfrm>
            <a:off x="9486900" y="4177481"/>
            <a:ext cx="1351644" cy="11128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LLM</a:t>
            </a:r>
            <a:endParaRPr lang="zh-CN" altLang="en-US" b="1" dirty="0"/>
          </a:p>
        </p:txBody>
      </p: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F1D2B474-C695-999A-DAD2-CC29B4187A9D}"/>
              </a:ext>
            </a:extLst>
          </p:cNvPr>
          <p:cNvCxnSpPr>
            <a:cxnSpLocks/>
            <a:stCxn id="85" idx="2"/>
            <a:endCxn id="86" idx="0"/>
          </p:cNvCxnSpPr>
          <p:nvPr/>
        </p:nvCxnSpPr>
        <p:spPr>
          <a:xfrm>
            <a:off x="10162722" y="3537020"/>
            <a:ext cx="0" cy="6404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文本框 90">
            <a:extLst>
              <a:ext uri="{FF2B5EF4-FFF2-40B4-BE49-F238E27FC236}">
                <a16:creationId xmlns:a16="http://schemas.microsoft.com/office/drawing/2014/main" id="{5F352505-539A-23EB-474C-8C2CDEBA63E8}"/>
              </a:ext>
            </a:extLst>
          </p:cNvPr>
          <p:cNvSpPr txBox="1"/>
          <p:nvPr/>
        </p:nvSpPr>
        <p:spPr>
          <a:xfrm>
            <a:off x="9643979" y="3712630"/>
            <a:ext cx="18588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/>
              <a:t>知识注入</a:t>
            </a:r>
          </a:p>
        </p:txBody>
      </p:sp>
    </p:spTree>
    <p:extLst>
      <p:ext uri="{BB962C8B-B14F-4D97-AF65-F5344CB8AC3E}">
        <p14:creationId xmlns:p14="http://schemas.microsoft.com/office/powerpoint/2010/main" val="3112184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6E041B9-3044-A0BD-DD20-A38CCDA98A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7030A0"/>
                </a:solidFill>
                <a:effectLst/>
              </a:rPr>
              <a:t>《</a:t>
            </a:r>
            <a:r>
              <a:rPr lang="zh-CN" altLang="en-US" dirty="0">
                <a:solidFill>
                  <a:srgbClr val="7030A0"/>
                </a:solidFill>
                <a:effectLst/>
              </a:rPr>
              <a:t>红楼梦</a:t>
            </a:r>
            <a:r>
              <a:rPr lang="en-US" altLang="zh-CN" dirty="0">
                <a:solidFill>
                  <a:srgbClr val="7030A0"/>
                </a:solidFill>
                <a:effectLst/>
              </a:rPr>
              <a:t>》</a:t>
            </a:r>
            <a:r>
              <a:rPr lang="en-US" altLang="zh-CN" dirty="0" err="1">
                <a:solidFill>
                  <a:srgbClr val="7030A0"/>
                </a:solidFill>
                <a:effectLst/>
              </a:rPr>
              <a:t>GraphRAG</a:t>
            </a:r>
            <a:r>
              <a:rPr lang="zh-CN" altLang="en-US" dirty="0">
                <a:solidFill>
                  <a:srgbClr val="7030A0"/>
                </a:solidFill>
                <a:effectLst/>
              </a:rPr>
              <a:t>系统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008C5B3-FFE0-78DC-1899-FB9C426FB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888" y="1095290"/>
            <a:ext cx="5294312" cy="182791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BDBB821-A413-DDB7-4983-1FF79E9590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1288" y="3056717"/>
            <a:ext cx="3044243" cy="270599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89BF465-8724-7558-F8DD-033648927D93}"/>
              </a:ext>
            </a:extLst>
          </p:cNvPr>
          <p:cNvSpPr txBox="1"/>
          <p:nvPr/>
        </p:nvSpPr>
        <p:spPr>
          <a:xfrm>
            <a:off x="1320509" y="5972424"/>
            <a:ext cx="3225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KG</a:t>
            </a:r>
            <a:r>
              <a:rPr lang="zh-CN" altLang="en-US" b="1" dirty="0"/>
              <a:t>构建：简单提取</a:t>
            </a:r>
            <a:r>
              <a:rPr lang="en-US" altLang="zh-CN" b="1" dirty="0"/>
              <a:t>prompt+</a:t>
            </a:r>
            <a:r>
              <a:rPr lang="zh-CN" altLang="en-US" b="1" dirty="0"/>
              <a:t>预定义本体模型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CDC3928-2387-ED47-1378-D2F4F99326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2459" y="1113517"/>
            <a:ext cx="2571882" cy="19432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7A4B54D-C552-96B4-FB17-1D9EB26D777E}"/>
              </a:ext>
            </a:extLst>
          </p:cNvPr>
          <p:cNvSpPr txBox="1"/>
          <p:nvPr/>
        </p:nvSpPr>
        <p:spPr>
          <a:xfrm>
            <a:off x="8804341" y="2009246"/>
            <a:ext cx="322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检索器：四种检索器动态选择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ACE1D02-563E-2DF9-9E00-2C5C2AAE4A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8725" y="3374466"/>
            <a:ext cx="5429529" cy="2209914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DC884017-78A5-B001-1E5E-3B8EB18F4F1B}"/>
              </a:ext>
            </a:extLst>
          </p:cNvPr>
          <p:cNvSpPr txBox="1"/>
          <p:nvPr/>
        </p:nvSpPr>
        <p:spPr>
          <a:xfrm>
            <a:off x="7410589" y="5902129"/>
            <a:ext cx="322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知识注入：直接提供知识</a:t>
            </a:r>
          </a:p>
        </p:txBody>
      </p:sp>
    </p:spTree>
    <p:extLst>
      <p:ext uri="{BB962C8B-B14F-4D97-AF65-F5344CB8AC3E}">
        <p14:creationId xmlns:p14="http://schemas.microsoft.com/office/powerpoint/2010/main" val="375882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62A53BA-4123-C5F2-6A04-748ABF9BFE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7030A0"/>
                </a:solidFill>
                <a:effectLst/>
              </a:rPr>
              <a:t>Vector/</a:t>
            </a:r>
            <a:r>
              <a:rPr lang="en-US" altLang="zh-CN" dirty="0" err="1">
                <a:solidFill>
                  <a:srgbClr val="7030A0"/>
                </a:solidFill>
                <a:effectLst/>
              </a:rPr>
              <a:t>VectorCypher</a:t>
            </a:r>
            <a:r>
              <a:rPr lang="zh-CN" altLang="en-US" dirty="0">
                <a:solidFill>
                  <a:srgbClr val="7030A0"/>
                </a:solidFill>
                <a:effectLst/>
              </a:rPr>
              <a:t>对比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C9D3D97-8DDD-37E2-281A-C357ED045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439" y="1370467"/>
            <a:ext cx="8571122" cy="4980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422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86560-96C0-B55E-664F-BEA5BBC43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9F98402-5485-7E1B-A405-CE1C8C9745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7030A0"/>
                </a:solidFill>
                <a:effectLst/>
              </a:rPr>
              <a:t>Vector/</a:t>
            </a:r>
            <a:r>
              <a:rPr lang="en-US" altLang="zh-CN" dirty="0" err="1">
                <a:solidFill>
                  <a:srgbClr val="7030A0"/>
                </a:solidFill>
                <a:effectLst/>
              </a:rPr>
              <a:t>VectorCypher</a:t>
            </a:r>
            <a:r>
              <a:rPr lang="zh-CN" altLang="en-US" dirty="0">
                <a:solidFill>
                  <a:srgbClr val="7030A0"/>
                </a:solidFill>
                <a:effectLst/>
              </a:rPr>
              <a:t>对比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5408630-B4C7-1BF6-BA15-AEBA7CFE6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216" y="1134264"/>
            <a:ext cx="10455568" cy="521905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0CAAE7F-F2A7-AA5B-2395-62443F8E2E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4043" y="3533706"/>
            <a:ext cx="2209914" cy="2686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498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E54CF59-56E3-1CD7-6994-28B65823A6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7030A0"/>
                </a:solidFill>
                <a:effectLst/>
              </a:rPr>
              <a:t> </a:t>
            </a:r>
            <a:r>
              <a:rPr lang="zh-CN" altLang="en-US" dirty="0">
                <a:solidFill>
                  <a:srgbClr val="7030A0"/>
                </a:solidFill>
                <a:effectLst/>
              </a:rPr>
              <a:t>及其之后的周边</a:t>
            </a:r>
            <a:r>
              <a:rPr lang="en-US" altLang="zh-CN" dirty="0">
                <a:solidFill>
                  <a:srgbClr val="7030A0"/>
                </a:solidFill>
                <a:effectLst/>
              </a:rPr>
              <a:t>-</a:t>
            </a:r>
            <a:r>
              <a:rPr lang="zh-CN" altLang="en-US" dirty="0">
                <a:solidFill>
                  <a:srgbClr val="7030A0"/>
                </a:solidFill>
                <a:effectLst/>
              </a:rPr>
              <a:t>关于</a:t>
            </a:r>
            <a:r>
              <a:rPr lang="en-US" altLang="zh-CN" dirty="0">
                <a:solidFill>
                  <a:srgbClr val="7030A0"/>
                </a:solidFill>
                <a:effectLst/>
              </a:rPr>
              <a:t>vide coding</a:t>
            </a:r>
            <a:endParaRPr lang="zh-CN" altLang="en-US" dirty="0">
              <a:solidFill>
                <a:srgbClr val="7030A0"/>
              </a:solidFill>
              <a:effectLst/>
            </a:endParaRPr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4C596480-A01C-C302-B99E-DEC17983AA3E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2"/>
          <a:stretch>
            <a:fillRect/>
          </a:stretch>
        </p:blipFill>
        <p:spPr>
          <a:xfrm>
            <a:off x="285750" y="2771872"/>
            <a:ext cx="5543550" cy="2552506"/>
          </a:xfrm>
          <a:prstGeom prst="rect">
            <a:avLst/>
          </a:prstGeom>
        </p:spPr>
      </p:pic>
      <p:pic>
        <p:nvPicPr>
          <p:cNvPr id="12" name="内容占位符 11">
            <a:extLst>
              <a:ext uri="{FF2B5EF4-FFF2-40B4-BE49-F238E27FC236}">
                <a16:creationId xmlns:a16="http://schemas.microsoft.com/office/drawing/2014/main" id="{9BD0C48C-260A-C6F3-AA4A-44FC44ACD8D1}"/>
              </a:ext>
            </a:extLst>
          </p:cNvPr>
          <p:cNvPicPr>
            <a:picLocks noGrp="1" noChangeAspect="1"/>
          </p:cNvPicPr>
          <p:nvPr>
            <p:ph sz="quarter" idx="17"/>
          </p:nvPr>
        </p:nvPicPr>
        <p:blipFill>
          <a:blip r:embed="rId3"/>
          <a:stretch>
            <a:fillRect/>
          </a:stretch>
        </p:blipFill>
        <p:spPr>
          <a:xfrm>
            <a:off x="7364742" y="2379023"/>
            <a:ext cx="3658857" cy="3107377"/>
          </a:xfrm>
          <a:prstGeom prst="rect">
            <a:avLst/>
          </a:prstGeom>
        </p:spPr>
      </p:pic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88117F6-70C5-126F-06A7-E0327A2067C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327151" y="5596035"/>
            <a:ext cx="3244850" cy="419100"/>
          </a:xfrm>
        </p:spPr>
        <p:txBody>
          <a:bodyPr>
            <a:normAutofit fontScale="70000" lnSpcReduction="20000"/>
          </a:bodyPr>
          <a:lstStyle/>
          <a:p>
            <a:r>
              <a:rPr lang="en-US" altLang="zh-CN" b="1" dirty="0"/>
              <a:t>Opus-5</a:t>
            </a:r>
            <a:r>
              <a:rPr lang="zh-CN" altLang="en-US" b="1" dirty="0"/>
              <a:t>直接给出来的代码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4DB79F48-840E-0412-C82D-8E359CF5BF8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/>
              <a:t>仓库地址：</a:t>
            </a:r>
            <a:r>
              <a:rPr lang="en-US" altLang="zh-CN" dirty="0">
                <a:hlinkClick r:id="rId4"/>
              </a:rPr>
              <a:t>https://gitee.com/tjudb/2026graphrag</a:t>
            </a:r>
            <a:endParaRPr lang="zh-CN" altLang="en-US" dirty="0"/>
          </a:p>
        </p:txBody>
      </p:sp>
      <p:sp>
        <p:nvSpPr>
          <p:cNvPr id="10" name="内容占位符 5">
            <a:extLst>
              <a:ext uri="{FF2B5EF4-FFF2-40B4-BE49-F238E27FC236}">
                <a16:creationId xmlns:a16="http://schemas.microsoft.com/office/drawing/2014/main" id="{045A27D1-67EB-53D3-2157-41CB7F34658F}"/>
              </a:ext>
            </a:extLst>
          </p:cNvPr>
          <p:cNvSpPr txBox="1">
            <a:spLocks/>
          </p:cNvSpPr>
          <p:nvPr/>
        </p:nvSpPr>
        <p:spPr>
          <a:xfrm>
            <a:off x="7620000" y="5596035"/>
            <a:ext cx="3244850" cy="4191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None/>
              <a:defRPr sz="1800" u="none" strike="noStrike" kern="1200" cap="none" spc="150" normalizeH="0" baseline="0">
                <a:solidFill>
                  <a:schemeClr val="tx1"/>
                </a:solidFill>
                <a:uFillTx/>
                <a:latin typeface="+mj-ea"/>
                <a:ea typeface="+mj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/>
              <a:t>修正后的代码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7589FA-5656-772D-D764-E48526F489E8}"/>
              </a:ext>
            </a:extLst>
          </p:cNvPr>
          <p:cNvSpPr txBox="1"/>
          <p:nvPr/>
        </p:nvSpPr>
        <p:spPr>
          <a:xfrm>
            <a:off x="990600" y="1210456"/>
            <a:ext cx="955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/>
              <a:t>小心直接生成代码带来的错误（不要直接接受生成代码，要有质量检查流程）</a:t>
            </a:r>
            <a:endParaRPr lang="en-US" altLang="zh-CN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/>
              <a:t>跑完测试再验收合并</a:t>
            </a:r>
          </a:p>
        </p:txBody>
      </p:sp>
    </p:spTree>
    <p:extLst>
      <p:ext uri="{BB962C8B-B14F-4D97-AF65-F5344CB8AC3E}">
        <p14:creationId xmlns:p14="http://schemas.microsoft.com/office/powerpoint/2010/main" val="3026410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EC1E54A-CDDA-C371-99C0-21CF10F21C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7030A0"/>
                </a:solidFill>
                <a:effectLst/>
              </a:rPr>
              <a:t> </a:t>
            </a:r>
            <a:r>
              <a:rPr lang="zh-CN" altLang="en-US" dirty="0">
                <a:solidFill>
                  <a:srgbClr val="7030A0"/>
                </a:solidFill>
                <a:effectLst/>
              </a:rPr>
              <a:t>关于代码存档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7DF9221-D063-428B-0699-CAA0DA0F8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311" y="1121892"/>
            <a:ext cx="1755290" cy="525350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67109B6-49CB-FB02-FA00-384DF66728FC}"/>
              </a:ext>
            </a:extLst>
          </p:cNvPr>
          <p:cNvSpPr txBox="1"/>
          <p:nvPr/>
        </p:nvSpPr>
        <p:spPr>
          <a:xfrm>
            <a:off x="533400" y="6468533"/>
            <a:ext cx="566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AI</a:t>
            </a:r>
            <a:r>
              <a:rPr lang="zh-CN" altLang="en-US" b="1" dirty="0"/>
              <a:t>经常性写了中间文件但最后不删除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3052F05-36F9-AB8B-DA8A-31DD7F2673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8601" y="2453010"/>
            <a:ext cx="2819545" cy="234327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3D67DAF-8FE5-59CC-2CB9-7CA4D9BBB478}"/>
              </a:ext>
            </a:extLst>
          </p:cNvPr>
          <p:cNvSpPr txBox="1"/>
          <p:nvPr/>
        </p:nvSpPr>
        <p:spPr>
          <a:xfrm>
            <a:off x="5969000" y="2277533"/>
            <a:ext cx="5867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/>
              <a:t>阶段性</a:t>
            </a:r>
            <a:r>
              <a:rPr lang="en-US" altLang="zh-CN" b="1" dirty="0"/>
              <a:t>git commit</a:t>
            </a:r>
            <a:r>
              <a:rPr lang="zh-CN" altLang="en-US" b="1" dirty="0"/>
              <a:t>存档（被</a:t>
            </a:r>
            <a:r>
              <a:rPr lang="en-US" altLang="zh-CN" b="1" dirty="0"/>
              <a:t>git commit</a:t>
            </a:r>
            <a:r>
              <a:rPr lang="zh-CN" altLang="en-US" b="1" dirty="0"/>
              <a:t>追踪的修改至少是可恢复可溯源的，参考</a:t>
            </a:r>
            <a:r>
              <a:rPr lang="en-US" altLang="zh-CN" b="1" dirty="0"/>
              <a:t>git blame/git bisect</a:t>
            </a:r>
            <a:r>
              <a:rPr lang="zh-CN" altLang="en-US" b="1" dirty="0"/>
              <a:t>）</a:t>
            </a:r>
            <a:endParaRPr lang="en-US" altLang="zh-CN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/>
              <a:t>阶段性存档修改为后续开发提供一个</a:t>
            </a:r>
            <a:r>
              <a:rPr lang="en-US" altLang="zh-CN" b="1" dirty="0"/>
              <a:t>baseline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/>
              <a:t>多开分支（有</a:t>
            </a:r>
            <a:r>
              <a:rPr lang="en-US" altLang="zh-CN" b="1" dirty="0"/>
              <a:t>git revert/merge/rebase/cherry pick/stash</a:t>
            </a:r>
            <a:r>
              <a:rPr lang="zh-CN" altLang="en-US" b="1" dirty="0"/>
              <a:t>兜底，</a:t>
            </a:r>
            <a:r>
              <a:rPr lang="en-US" altLang="zh-CN" b="1" dirty="0"/>
              <a:t>commit</a:t>
            </a:r>
            <a:r>
              <a:rPr lang="zh-CN" altLang="en-US" b="1" dirty="0"/>
              <a:t>多了不是问题）</a:t>
            </a:r>
          </a:p>
        </p:txBody>
      </p:sp>
    </p:spTree>
    <p:extLst>
      <p:ext uri="{BB962C8B-B14F-4D97-AF65-F5344CB8AC3E}">
        <p14:creationId xmlns:p14="http://schemas.microsoft.com/office/powerpoint/2010/main" val="1160608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520</Words>
  <Application>Microsoft Office PowerPoint</Application>
  <PresentationFormat>宽屏</PresentationFormat>
  <Paragraphs>53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等线</vt:lpstr>
      <vt:lpstr>等线 Light</vt:lpstr>
      <vt:lpstr>微软雅黑</vt:lpstr>
      <vt:lpstr>Arial</vt:lpstr>
      <vt:lpstr>Wingdings</vt:lpstr>
      <vt:lpstr>Office 主题​​</vt:lpstr>
      <vt:lpstr>《知识工程综合实践》</vt:lpstr>
      <vt:lpstr>课程要求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 Xin</dc:creator>
  <cp:lastModifiedBy>吉祥宇</cp:lastModifiedBy>
  <cp:revision>6</cp:revision>
  <dcterms:created xsi:type="dcterms:W3CDTF">2026-09-02T23:41:58Z</dcterms:created>
  <dcterms:modified xsi:type="dcterms:W3CDTF">2026-09-03T00:07:37Z</dcterms:modified>
</cp:coreProperties>
</file>