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d6a47b4cba431d" /><Relationship Type="http://schemas.openxmlformats.org/officeDocument/2006/relationships/extended-properties" Target="/docProps/app.xml" Id="Rd7aed424a95b4bf4" /><Relationship Type="http://schemas.openxmlformats.org/officeDocument/2006/relationships/officeDocument" Target="/ppt/presentation.xml" Id="Rc5100f3363334c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6423f1ee914711"/>
  </p:sldMasterIdLst>
  <p:notesMasterIdLst>
    <p:notesMasterId xmlns:r="http://schemas.openxmlformats.org/officeDocument/2006/relationships" r:id="R2b18a99b25c44147"/>
  </p:notesMasterIdLst>
  <p:sldIdLst>
    <p:sldId xmlns:r="http://schemas.openxmlformats.org/officeDocument/2006/relationships" id="256" r:id="Ra5aa268f551a4ecb"/>
    <p:sldId xmlns:r="http://schemas.openxmlformats.org/officeDocument/2006/relationships" id="257" r:id="Rf4c6146fb2394600"/>
    <p:sldId xmlns:r="http://schemas.openxmlformats.org/officeDocument/2006/relationships" id="258" r:id="R4fafbd8a5d0742c4"/>
    <p:sldId xmlns:r="http://schemas.openxmlformats.org/officeDocument/2006/relationships" id="259" r:id="R2839a34c232b475d"/>
    <p:sldId xmlns:r="http://schemas.openxmlformats.org/officeDocument/2006/relationships" id="260" r:id="R2940592153c1402a"/>
    <p:sldId xmlns:r="http://schemas.openxmlformats.org/officeDocument/2006/relationships" id="261" r:id="R028707a963794d8f"/>
    <p:sldId xmlns:r="http://schemas.openxmlformats.org/officeDocument/2006/relationships" id="262" r:id="Rab529c97a3d64863"/>
    <p:sldId xmlns:r="http://schemas.openxmlformats.org/officeDocument/2006/relationships" id="263" r:id="Rb038ac9a1fce48f6"/>
    <p:sldId xmlns:r="http://schemas.openxmlformats.org/officeDocument/2006/relationships" id="264" r:id="Reb0f7d70ab7a4f30"/>
    <p:sldId xmlns:r="http://schemas.openxmlformats.org/officeDocument/2006/relationships" id="265" r:id="R141b0690dc16472d"/>
    <p:sldId xmlns:r="http://schemas.openxmlformats.org/officeDocument/2006/relationships" id="266" r:id="R45e0251c656c40db"/>
    <p:sldId xmlns:r="http://schemas.openxmlformats.org/officeDocument/2006/relationships" id="267" r:id="Rd18153899a4d46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79cdbb0f924415" /><Relationship Type="http://schemas.openxmlformats.org/officeDocument/2006/relationships/slideMaster" Target="/ppt/slideMasters/slideMaster1.xml" Id="Ra56423f1ee914711" /><Relationship Type="http://schemas.openxmlformats.org/officeDocument/2006/relationships/notesMaster" Target="/ppt/notesMasters/notesMaster1.xml" Id="R2b18a99b25c44147" /><Relationship Type="http://schemas.openxmlformats.org/officeDocument/2006/relationships/presProps" Target="/ppt/presProps.xml" Id="R827ebd8a937b4256" /><Relationship Type="http://schemas.openxmlformats.org/officeDocument/2006/relationships/tableStyles" Target="/ppt/tableStyles.xml" Id="R80961f7732b24ab5" /><Relationship Type="http://schemas.openxmlformats.org/officeDocument/2006/relationships/slide" Target="/ppt/slides/slide1.xml" Id="Ra5aa268f551a4ecb" /><Relationship Type="http://schemas.openxmlformats.org/officeDocument/2006/relationships/slide" Target="/ppt/slides/slide2.xml" Id="Rf4c6146fb2394600" /><Relationship Type="http://schemas.openxmlformats.org/officeDocument/2006/relationships/slide" Target="/ppt/slides/slide3.xml" Id="R4fafbd8a5d0742c4" /><Relationship Type="http://schemas.openxmlformats.org/officeDocument/2006/relationships/slide" Target="/ppt/slides/slide4.xml" Id="R2839a34c232b475d" /><Relationship Type="http://schemas.openxmlformats.org/officeDocument/2006/relationships/slide" Target="/ppt/slides/slide5.xml" Id="R2940592153c1402a" /><Relationship Type="http://schemas.openxmlformats.org/officeDocument/2006/relationships/slide" Target="/ppt/slides/slide6.xml" Id="R028707a963794d8f" /><Relationship Type="http://schemas.openxmlformats.org/officeDocument/2006/relationships/slide" Target="/ppt/slides/slide7.xml" Id="Rab529c97a3d64863" /><Relationship Type="http://schemas.openxmlformats.org/officeDocument/2006/relationships/slide" Target="/ppt/slides/slide8.xml" Id="Rb038ac9a1fce48f6" /><Relationship Type="http://schemas.openxmlformats.org/officeDocument/2006/relationships/slide" Target="/ppt/slides/slide9.xml" Id="Reb0f7d70ab7a4f30" /><Relationship Type="http://schemas.openxmlformats.org/officeDocument/2006/relationships/slide" Target="/ppt/slides/slide10.xml" Id="R141b0690dc16472d" /><Relationship Type="http://schemas.openxmlformats.org/officeDocument/2006/relationships/slide" Target="/ppt/slides/slide11.xml" Id="R45e0251c656c40db" /><Relationship Type="http://schemas.openxmlformats.org/officeDocument/2006/relationships/slide" Target="/ppt/slides/slide12.xml" Id="Rd18153899a4d46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b941ac8db741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0a6412ee864d7d" /><Relationship Type="http://schemas.openxmlformats.org/officeDocument/2006/relationships/notesMaster" Target="/ppt/notesMasters/notesMaster1.xml" Id="Ref5845c7daa841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b85a5c1e334c94" /><Relationship Type="http://schemas.openxmlformats.org/officeDocument/2006/relationships/notesMaster" Target="/ppt/notesMasters/notesMaster1.xml" Id="Re1158d4893a24e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7a7d7a1c9f4b3b" /><Relationship Type="http://schemas.openxmlformats.org/officeDocument/2006/relationships/notesMaster" Target="/ppt/notesMasters/notesMaster1.xml" Id="R0c839ac7a5f24d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644475220c4afa" /><Relationship Type="http://schemas.openxmlformats.org/officeDocument/2006/relationships/notesMaster" Target="/ppt/notesMasters/notesMaster1.xml" Id="R78c3f3e0d72745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af82a883a145a1" /><Relationship Type="http://schemas.openxmlformats.org/officeDocument/2006/relationships/notesMaster" Target="/ppt/notesMasters/notesMaster1.xml" Id="R6d9eb5022fcd4a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2096298e4d4a0d" /><Relationship Type="http://schemas.openxmlformats.org/officeDocument/2006/relationships/notesMaster" Target="/ppt/notesMasters/notesMaster1.xml" Id="R7a1cf953eb414c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0645f67d7a47d4" /><Relationship Type="http://schemas.openxmlformats.org/officeDocument/2006/relationships/notesMaster" Target="/ppt/notesMasters/notesMaster1.xml" Id="R3242fc8a384247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98242ffa8048cb" /><Relationship Type="http://schemas.openxmlformats.org/officeDocument/2006/relationships/notesMaster" Target="/ppt/notesMasters/notesMaster1.xml" Id="R606b169cc4854d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26fb339bda4606" /><Relationship Type="http://schemas.openxmlformats.org/officeDocument/2006/relationships/notesMaster" Target="/ppt/notesMasters/notesMaster1.xml" Id="R9822dc64cb7d47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a499ca1c3847bf" /><Relationship Type="http://schemas.openxmlformats.org/officeDocument/2006/relationships/notesMaster" Target="/ppt/notesMasters/notesMaster1.xml" Id="Rb5e36b2f363844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590727b5094e39" /><Relationship Type="http://schemas.openxmlformats.org/officeDocument/2006/relationships/notesMaster" Target="/ppt/notesMasters/notesMaster1.xml" Id="R77ccf69a509146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c21a483da54751" /><Relationship Type="http://schemas.openxmlformats.org/officeDocument/2006/relationships/notesMaster" Target="/ppt/notesMasters/notesMaster1.xml" Id="R0fbada3479aa49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本页为项目标题页。PathFusionRAG 的机制、实现与数据边界见仓库 docs/GraphRAG方法调研与系统实现细节.md。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内容来源：用户提供的 GraphRAG 方法论与 docs/GraphRAG方法调研与系统实现细节.md 第 1、2 节。此页解释从 Vector RAG 走到 GraphRAG 的动机。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内容来源：Microsoft GraphRAG 官方机制的项目适配说明，详见 docs/GraphRAG方法调研与系统实现细节.md 第 2.1 节。当前代码保留 graphrag.api 的 basic/local/global/drift_search 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内容来源：LightRAG 论文机制与 HippoRAG 2 论文机制的 schema-compatible 工程适配，见 docs/GraphRAG方法调研与系统实现细节.md 第 2.2、2.3 节。当前实现不是两个项目的官方 reference implementation。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内容来源：用户提供的 PathFusionRAG 定义与 docs/GraphRAG方法调研与系统实现细节.md 第 4 节。这里明确它是规模适中的系统创新，不声称是新的预训练模型。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内容来源：docs/GraphRAG方法调研与系统实现细节.md 第 4.2、5.2 节，以及当前 graphrag6-retrieval/retrieval.py 的实现契约。当前最大 hop=2 是明确的工程边界。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内容来源：用户提供的 HippoRAG 2 与 PathFusionRAG 机制对比。该页是理论比较，不把 PathFusionRAG 表述为在所有任务上都优于 PPR。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内容来源：docs/GraphRAG方法调研与系统实现细节.md 第 6、7、8、9 节。当前仓库 trace_store 将嵌套字段编码后追加到 output/retrieval_traces.parquet。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真实案例来源：experiments/enron_california_crisis/evaluation_CA01.md、evaluation_CA02.md、evaluation_CA03.md 及对应 comparison_*.json。CA01 是压力题，CA02 是同主题窄问题，CA03 是 GraphRAG 相对更完整的正例。不要将这些结果外推为 PathFusionRAG 已在六个公开 benchmark 上验证。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数据集描述与场景对应来自用户提供的六个公开数据集说明。正式评测必须固定相同实验条件，不能用不同模型或上下文预算制造方法提升。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表中数字完全来自用户提供的汇报版对照表。当前仓库没有完成这六个公开 benchmark 的统一重跑，因此本页必须保留‘待复核’披露。正式实验应保存逐题答案、证据、路径、延迟、成本和评测指标。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图表数字来自用户提供的汇报版平均分，仍需统一重跑复核。理论判断来自 docs/GraphRAG方法调研与系统实现细节.md 第 3、4、11 节。下一步优先验证 adaptive max-hop 对 MuSiQue 的影响。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59137112f49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b04f183a6a45ee" /><Relationship Type="http://schemas.openxmlformats.org/officeDocument/2006/relationships/slideLayout" Target="/ppt/slideLayouts/slideLayout1.xml" Id="Rff05ad5c90b547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05ad5c90b547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7cfcbd9064845" /><Relationship Type="http://schemas.openxmlformats.org/officeDocument/2006/relationships/notesSlide" Target="/ppt/notesSlides/notesSlide1.xml" Id="Re6ab9414d2f945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a41a139e8499f" /><Relationship Type="http://schemas.openxmlformats.org/officeDocument/2006/relationships/notesSlide" Target="/ppt/notesSlides/notesSlide2.xml" Id="R193f2eced0324c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a97a2d1324338" /><Relationship Type="http://schemas.openxmlformats.org/officeDocument/2006/relationships/notesSlide" Target="/ppt/notesSlides/notesSlide3.xml" Id="R640c1d8f824049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7c03de9524ed9" /><Relationship Type="http://schemas.openxmlformats.org/officeDocument/2006/relationships/notesSlide" Target="/ppt/notesSlides/notesSlide4.xml" Id="Rbc964978316745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dae7175964a51" /><Relationship Type="http://schemas.openxmlformats.org/officeDocument/2006/relationships/notesSlide" Target="/ppt/notesSlides/notesSlide5.xml" Id="R621fdcccecd346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181e9eab24dff" /><Relationship Type="http://schemas.openxmlformats.org/officeDocument/2006/relationships/notesSlide" Target="/ppt/notesSlides/notesSlide6.xml" Id="R739d569ea9c441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33b5f933f4039" /><Relationship Type="http://schemas.openxmlformats.org/officeDocument/2006/relationships/notesSlide" Target="/ppt/notesSlides/notesSlide7.xml" Id="R1a17fdbaa9374d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84ef12c3049e2" /><Relationship Type="http://schemas.openxmlformats.org/officeDocument/2006/relationships/notesSlide" Target="/ppt/notesSlides/notesSlide8.xml" Id="R58b5645e37704d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4b95f37b844dc" /><Relationship Type="http://schemas.openxmlformats.org/officeDocument/2006/relationships/notesSlide" Target="/ppt/notesSlides/notesSlide9.xml" Id="R20557e495b2b41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53cfe8a084f83" /><Relationship Type="http://schemas.openxmlformats.org/officeDocument/2006/relationships/notesSlide" Target="/ppt/notesSlides/notesSlide10.xml" Id="R39ee1d7bba7f4f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070aee89d4387" /><Relationship Type="http://schemas.openxmlformats.org/officeDocument/2006/relationships/notesSlide" Target="/ppt/notesSlides/notesSlide11.xml" Id="R1fe80fb0922243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c7cc671314967" /><Relationship Type="http://schemas.openxmlformats.org/officeDocument/2006/relationships/notesSlide" Target="/ppt/notesSlides/notesSlide12.xml" Id="R64d3fa17e2134e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A9235-9C44-4FF1-8FB6-7145F196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6667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4423E-80C1-41E8-9956-E1A8E5D2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DE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8DE0DE"/>
                </a:solidFill>
                <a:latin typeface="Helvetica Neue"/>
                <a:ea typeface="Helvetica Neue"/>
                <a:cs typeface="Helvetica Neue"/>
              </a:rPr>
              <a:t>GRAPH RAG · 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3FB05-7B43-4811-A7A8-88BDC2DC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8115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PathFusionRAG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D84BE-D961-4980-A2A1-FBFF4073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8E5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C8E5EF"/>
                </a:solidFill>
                <a:latin typeface="Helvetica Neue"/>
                <a:ea typeface="Helvetica Neue"/>
                <a:cs typeface="Helvetica Neue"/>
              </a:rPr>
              <a:t>Multi-channel Retrieval with Constrained Graph Path Fusion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CBD16-C7DB-4437-A0F4-57AE61D5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384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8E5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C8E5EF"/>
                </a:solidFill>
                <a:latin typeface="Helvetica Neue"/>
                <a:ea typeface="Helvetica Neue"/>
                <a:cs typeface="Helvetica Neue"/>
              </a:rPr>
              <a:t>基于约束图路径融合的多通道检索增强生成方法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4C9C3-507D-4150-AF19-DD10DEB6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7477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9C9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A9C9D8"/>
                </a:solidFill>
                <a:latin typeface="Helvetica Neue"/>
                <a:ea typeface="Helvetica Neue"/>
                <a:cs typeface="Helvetica Neue"/>
              </a:rPr>
              <a:t>从 Microsoft GraphRAG 基线出发，把词项匹配、语义检索与有限图路径统一为可审计的证据链。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5E3A1-5115-4795-AF6C-5F0FE87F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D3964-0357-4C96-90B3-948C81EC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FB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FB2C5"/>
                </a:solidFill>
                <a:latin typeface="Helvetica Neue"/>
                <a:ea typeface="Helvetica Neue"/>
                <a:cs typeface="Helvetica Neue"/>
              </a:rPr>
              <a:t>GraphRAG-6 · 研究工作台与实现汇报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3B2A9-67D1-4E16-ACD2-8F766758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000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FB2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FB2C5"/>
                </a:solidFill>
                <a:latin typeface="Helvetica Neue"/>
                <a:ea typeface="Helvetica Neue"/>
                <a:cs typeface="Helvetica Neue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357522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87E9B-B1BA-45D0-9C2E-1DC5501D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PATHFUSIONRAG  /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D3016-F6F7-43BC-AC7E-55C37369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rPr>
              <a:t>PROBLEM FRAMING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DEB8C-2568-4B03-8618-5A93A931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相似文本不等于关系证据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44024-A02F-48DE-AD9E-02207C0E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Vector RAG 解决“哪里有答案”，GraphRAG 进一步解决“证据为什么能连起来”。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78C15-7E04-45AD-A844-F430371A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0E397-1491-4EFB-BC8D-0E878D5D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667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B6D4C-FF19-483F-956D-E616BDCC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7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D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5FE12-66EC-49B6-9C5B-24116477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Vector 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FE6CB-244C-4681-8E37-95EAD913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3243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文档切 chunk</a:t>
            </a:r>
          </a:p>
          <a:p xmlns:a="http://schemas.openxmlformats.org/drawingml/2006/main">
            <a:pPr algn="l">
              <a:def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embedding 后做 top-k 相似度搜索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优点：简单、直接、单事实稳定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边界：它看到的是相似文本，不知道实体之间的关系，也无法保证跨 chunk 的链路闭合。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23418-6E8D-4A85-A153-0CF4E21A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76625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FE7FA-F970-4D01-B2D2-FF5BB2F7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38375"/>
            <a:ext cx="54673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801C5-97F2-4E4D-9E31-771103F5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38375"/>
            <a:ext cx="47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7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F2635-8E1A-443C-91D0-82AAE8B6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GraphRAG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F6900-ECFC-4AB9-9CAA-23CA8942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51244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原始文本 → 实体抽取 → 关系抽取</a:t>
            </a:r>
          </a:p>
          <a:p xmlns:a="http://schemas.openxmlformats.org/drawingml/2006/main">
            <a:pPr algn="l">
              <a:def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→ Knowledge Graph → Community Detection</a:t>
            </a:r>
          </a:p>
          <a:p xmlns:a="http://schemas.openxmlformats.org/drawingml/2006/main">
            <a:pPr algn="l">
              <a:def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→ Community Reports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图结构让系统可以围绕实体、关系、社区和路径组织证据，支持局部关系问题与全局主题总结。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B0C48-DC9A-49D9-9F8D-BED80176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BD8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A6FB9-39FE-4A56-8BD3-87D3DD59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1023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B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2B46"/>
                </a:solidFill>
                <a:latin typeface="Helvetica Neue"/>
                <a:ea typeface="Helvetica Neue"/>
                <a:cs typeface="Helvetica Neue"/>
              </a:rPr>
              <a:t>典型多跳问题：人物 A → 邮件 / 事件 → 人物 B → 政策议题 → 人物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391DE-32E0-44EF-A9A0-47A7D41C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rPr>
              <a:t>GraphRAG-6 · method comparison and evidence trace</a:t>
            </a:r>
          </a:p>
        </p:txBody>
      </p:sp>
    </p:spTree>
    <p:extLst>
      <p:ext uri="{BB962C8B-B14F-4D97-AF65-F5344CB8AC3E}">
        <p14:creationId xmlns:p14="http://schemas.microsoft.com/office/powerpoint/2010/main" val="232137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7182C-4AEA-49B9-BADD-38CEA35B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PATHFUSIONRAG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C4579-F5F7-4AD9-A0A2-FBDA91C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rPr>
              <a:t>BASELINE FAMILY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C7EA8-FC87-4E31-B1A0-2BCC5C4A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Microsoft GraphRAG 把问题分成局部、全局和探索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211DA-107A-495E-B8A0-F0146F36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共同索引过程相同，查询入口决定上下文的组织方式。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F87D0-4169-45F2-AB83-F44FFCFB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08204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428750"/>
                <a:gridCol w="2781300"/>
                <a:gridCol w="2714625"/>
                <a:gridCol w="2752725"/>
              </a:tblGrid>
              <a:tr h="54483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模式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查询起点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主要机制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最适合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主要代价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文本 chunk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普通向量文本检索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单事实、明确答案位置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没有实体关系，多跳弱</a:t>
                      </a:r>
                    </a:p>
                  </a:txBody>
                  <a:tcPr marL="91440" marR="91440" marT="45720" marB="45720"/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实体 seed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实体 → 关系 → 文本 / 社区扩张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某人、某事件附近的局部关系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seed 错了容易漏后续实体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Global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社区报告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多社区 map → reduce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全局主题、趋势、跨文档总结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调用成本高，摘要损失细节</a:t>
                      </a:r>
                    </a:p>
                  </a:txBody>
                  <a:tcPr marL="91440" marR="91440" marT="45720" marB="45720"/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DRIFT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社区线索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社区信息引导迭代式局部探索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复杂、开放式探索问题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延迟与编排复杂度更高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20948-C5BF-432E-AC05-D8AA8B0D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ACF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FFB70-C719-4EDE-8394-750B7B80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38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38B19"/>
                </a:solidFill>
                <a:latin typeface="Helvetica Neue"/>
                <a:ea typeface="Helvetica Neue"/>
                <a:cs typeface="Helvetica Neue"/>
              </a:rPr>
              <a:t>关键区别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767A1-6169-431A-8FFC-1DBB70DA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76875"/>
            <a:ext cx="885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25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725A25"/>
                </a:solidFill>
                <a:latin typeface="Helvetica Neue"/>
                <a:ea typeface="Helvetica Neue"/>
                <a:cs typeface="Helvetica Neue"/>
              </a:rPr>
              <a:t>Local 从点出发，Global 从社区出发。前者保留局部实体关系，后者用预生成报告覆盖整个语料。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F4301-F610-4375-B2AC-728E476A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rPr>
              <a:t>GraphRAG-6 · method comparison and evidence trace</a:t>
            </a:r>
          </a:p>
        </p:txBody>
      </p:sp>
    </p:spTree>
    <p:extLst>
      <p:ext uri="{BB962C8B-B14F-4D97-AF65-F5344CB8AC3E}">
        <p14:creationId xmlns:p14="http://schemas.microsoft.com/office/powerpoint/2010/main" val="1872990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E7E8E-6972-4627-BBBB-AB47206E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PATHFUSIONRAG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EA5B9-E4F8-485C-908C-E0A601AC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rPr>
              <a:t>STRONG COMPARISON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6A2E8-88D6-4150-A5A0-4CDDCB03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LightRAG 追求覆盖，HippoRAG 2 追求传播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23661-CBB0-4FB7-BCD2-2C906543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两个方法分别补足主题层次和隐式多跳，但也继承了各自的噪声风险。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54CE0-93CC-45FA-BBDC-E79F45CA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4F11A-E3CD-4075-AC8F-213CA44E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048250" cy="3190875"/>
          </a:xfrm>
          <a:prstGeom xmlns:a="http://schemas.openxmlformats.org/drawingml/2006/main" prst="roundRect">
            <a:avLst>
              <a:gd name="adj" fmla="val 47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B43F7-25F8-4199-95E3-9EE4D8B7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762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48181-8D28-484E-BE40-5C081EAE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LightRAG 风格 · 双层检索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3AB53-5B88-407D-B960-72E34A36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705350" cy="256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Low-level keywords</a:t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具体实体、属性、细节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High-level keywords</a:t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整体主题、任务、政策背景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工程适配：entities 做低层 BM25，community reports 做高层检索，再反向映射 entities，回链 relationships 与 text_units。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强项：多主题覆盖。风险：community expansion 可能带来噪声。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9B113-1847-4293-B32A-0F4E5EBD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38375"/>
            <a:ext cx="5048250" cy="3190875"/>
          </a:xfrm>
          <a:prstGeom xmlns:a="http://schemas.openxmlformats.org/drawingml/2006/main" prst="roundRect">
            <a:avLst>
              <a:gd name="adj" fmla="val 47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D7772-99E0-4D8B-A349-48FB1C60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38375"/>
            <a:ext cx="4762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8B1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0044A-7154-46FC-86AD-25DA49FD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9825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HippoRAG 2 风格 · PPR 多跳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2DEC0-18C6-45ED-916E-90930788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4705350" cy="256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Query seed → 图上相关性传播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p_(t+1) = αs + (1−α)Pᵀp_t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当前实现：α=0.15，30 次迭代，实体分数 = 0.65·PPR + 0.35·seed_score，再用 BFS 保存最大 2-hop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强项：隐式多跳召回。风险：错误边与超级节点会传播噪声。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38B63-CE53-45D3-8BA5-E164D9A6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rPr>
              <a:t>GraphRAG-6 · method comparison and evidence trace</a:t>
            </a:r>
          </a:p>
        </p:txBody>
      </p:sp>
    </p:spTree>
    <p:extLst>
      <p:ext uri="{BB962C8B-B14F-4D97-AF65-F5344CB8AC3E}">
        <p14:creationId xmlns:p14="http://schemas.microsoft.com/office/powerpoint/2010/main" val="15413394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27BBE-BFEB-4C1D-AD15-7BFF25FB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PATHFUSIONRAG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8DBC8-C224-47B8-9799-0AD49362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rPr>
              <a:t>OUR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E14F8-BEB3-439C-8A4A-127AAC61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PathFusionRAG 把三种互补信号放到同一个候选层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2E636-FA0C-4B68-B378-68D70E07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精确词项负责“直接命中”，Dense 负责“语义补回”，图路径负责“结构可解释”。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67D3D-CC4B-4544-8B46-06F256F1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24489-9775-4B2C-A42F-EEAC3D19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02B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D6C09-E503-4E30-BAD4-7D74BA29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14600"/>
            <a:ext cx="1014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Score(text) = 0.35 · S_BM25 + 0.35 · S_Dense + 0.30 · S_Path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9EFDF-6555-434B-9E7D-1A80FE2C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99085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9C9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A9C9D8"/>
                </a:solidFill>
                <a:latin typeface="Helvetica Neue"/>
                <a:ea typeface="Helvetica Neue"/>
                <a:cs typeface="Helvetica Neue"/>
              </a:rPr>
              <a:t>可解释默认权重，正式结论需要在固定验证集上做消融与校准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13DDC-6B6D-4DBD-BA21-EBE8DD5D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5755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09F31-E72E-4DE4-914F-EFC8E588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D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8F4F0-BBE5-467C-99E1-800DD3F3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BM25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2BF47-2709-4DD2-B8B1-C6D6D38E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914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精确词项匹配</a:t>
            </a:r>
          </a:p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人名、机构名、事件名等直接证据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BDA0A-070D-4553-9FC4-2E36113C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714750"/>
            <a:ext cx="325755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25C62-B7AC-41A6-878C-182A1338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714750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59C31-37B0-4ED4-8AED-680A3E8A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862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Dense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9848D-7486-4432-B299-6AD5D133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38625"/>
            <a:ext cx="2914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语义泛化</a:t>
            </a:r>
          </a:p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补回表达不同但语义相近的文本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94BDA-8CB6-48DD-888D-2CF3FB9C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325755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ACDFA-021B-4FD2-8810-122F46EB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7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28A0D-C743-40F3-A940-024A75B8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862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Graph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C3BD3-5BE1-40D0-8A9B-970DA8A4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38625"/>
            <a:ext cx="2914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有限跳数结构约束</a:t>
            </a:r>
          </a:p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在 seed 与候选证据实体之间找路径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679F2-FB0E-42ED-9550-2F064281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2B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2B46"/>
                </a:solidFill>
                <a:latin typeface="Helvetica Neue"/>
                <a:ea typeface="Helvetica Neue"/>
                <a:cs typeface="Helvetica Neue"/>
              </a:rPr>
              <a:t>结合 Basic 的精确性 + Dense 的语义召回 + HippoRAG 2 的多跳能力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65ED2-CBAB-4F15-B86E-198CC2AB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rPr>
              <a:t>GraphRAG-6 · method comparison and evidence trace</a:t>
            </a:r>
          </a:p>
        </p:txBody>
      </p:sp>
    </p:spTree>
    <p:extLst>
      <p:ext uri="{BB962C8B-B14F-4D97-AF65-F5344CB8AC3E}">
        <p14:creationId xmlns:p14="http://schemas.microsoft.com/office/powerpoint/2010/main" val="1117077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A878BE-0EAB-4CD2-A2DC-ADDCBA86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PATHFUSIONRAG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A5726-1655-430E-86CC-16FDF92E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rPr>
              <a:t>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B611D-B4C1-485C-B362-48F17ACF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从候选召回到有限路径融合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CEFC0-612A-451B-B92A-217BE027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文本证据先获得 lexical / semantic 候选资格，图路径再作为结构门控进入最终排序。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6022D-16DC-4E03-B59A-7F11B62A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D49BE-E62C-4DCF-AFF1-6781354C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581150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8F6E0-9E6D-41EB-BB9D-750A9688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6B928-C4CC-483B-95F0-111B499E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Query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F320E-0E64-48AF-B251-B32A7D7A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输入问题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58DA8-2A72-4D92-8F15-7857D2B4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095625"/>
            <a:ext cx="2571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E1655-EE2C-48F2-B2ED-939B8F22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24125"/>
            <a:ext cx="1581150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54B67-FAB4-42AE-88DE-B920EC94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67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81337-40AA-49B4-A4B7-CFF685DD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813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BM25 + Dense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4D804-51A6-4D27-A21C-B9D8D00E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32422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搜索 entity / relationship / 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728E3-8FBB-4DAD-A301-741CD172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95625"/>
            <a:ext cx="2571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B788B-28FE-4626-A724-3D19E59F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24125"/>
            <a:ext cx="1581150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0519B-C2F9-4459-B2E0-41C99E12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7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16F4D-C1E6-41C0-AA0D-5D13CC3C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813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Seed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06E72-A118-411C-B5AD-BFA1E642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2422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选择高分实体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D247D-DD7A-4C3A-A3BB-D294D21A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95625"/>
            <a:ext cx="2571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B669B3-A2F6-402F-B2D0-3B0133DA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24125"/>
            <a:ext cx="1581150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5F6F1"/>
          </a:solidFill>
          <a:ln xmlns:a="http://schemas.openxmlformats.org/drawingml/2006/main" w="9525">
            <a:solidFill>
              <a:srgbClr val="8ACDB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AAD6CF-85E9-497B-9DB6-7501CC59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67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9C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49C7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2C1C3-1A9D-44A0-8E00-B70314F6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813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BFS ≤ 2-hop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3442D3-0B16-4949-B6C8-AFD532DB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2422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连接 seed 与证据实体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0AB54-5DB0-4C6C-8736-554CE24D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2571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AE6B9E-EAD8-4413-978A-260FC736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24125"/>
            <a:ext cx="1581150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AF9321-E3D8-4006-A586-664D1197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7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97891-D3EA-4135-AB29-FC783D94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813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Fusion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D1CA3C-BD73-43B2-920E-E14081A0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2422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融合三路分数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AE516B-B471-412A-B940-E2F7715B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095625"/>
            <a:ext cx="2571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A85F5D-A7F4-4D2A-9366-E702A12F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24125"/>
            <a:ext cx="1581150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78CE53-C6F9-470E-9EDE-4B6A1ED1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67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369AFA-0043-4A0B-AE57-E17C4A35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9813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LLM + Trace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ED4CF2-7130-4BAC-8084-637CACCB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324225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答案与完整证据链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33F187-7CA4-4819-B228-F680F984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52197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05EF9C-B06C-4D12-973B-CB7B1763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77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309C72-FE64-4885-B15D-53E35E8C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路径分数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621F96-D7A0-4083-B9A5-B8487C32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4876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path_score = seed_score / (1 + hops)</a:t>
            </a:r>
          </a:p>
          <a:p xmlns:a="http://schemas.openxmlformats.org/drawingml/2006/main">
            <a:pPr algn="l">
              <a:def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跳数越多，结构关联贡献越保守。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5A177E-8C6E-4153-8DC3-C2619AEB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52197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716923-34AD-454B-8092-36818179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D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41ED3F-99BB-46A5-83B5-604A9791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0575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输出给 LLM 的上下文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B52965-D160-45B7-9CEC-9ECBEE67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876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路径上的 entities + relationships + text evidence</a:t>
            </a:r>
          </a:p>
          <a:p xmlns:a="http://schemas.openxmlformats.org/drawingml/2006/main">
            <a:pPr algn="l">
              <a:def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与统一 RetrievalTrace 一起保存。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18E7D6-FE92-4144-8D62-00AF0816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rPr>
              <a:t>GraphRAG-6 · method comparison and evidence trace</a:t>
            </a:r>
          </a:p>
        </p:txBody>
      </p:sp>
    </p:spTree>
    <p:extLst>
      <p:ext uri="{BB962C8B-B14F-4D97-AF65-F5344CB8AC3E}">
        <p14:creationId xmlns:p14="http://schemas.microsoft.com/office/powerpoint/2010/main" val="16848760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BC9A9-C15E-42C5-98CF-4CCCA6C2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PATHFUSIONRAG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A0A8A-C811-47FA-BFA5-A650EBBD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rPr>
              <a:t>MECHANISM CONTRAST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575C6-A93A-4726-B95F-84CC824D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图在两个方法中承担不同职责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46BA2-1F88-44A5-B0DF-B2E23EA2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HippoRAG 2 让相关性沿图传播，PathFusionRAG 让图路径约束候选证据。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57E69-9D06-4CCB-B351-684370A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BE58E-5BFE-4BE2-9439-BC6EEFAD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953000" cy="32861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AC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B5645-03D0-486F-A4AB-4F7A4140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050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762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87621E"/>
                </a:solidFill>
                <a:latin typeface="Helvetica Neue"/>
                <a:ea typeface="Helvetica Neue"/>
                <a:cs typeface="Helvetica Neue"/>
              </a:rPr>
              <a:t>HippoRAG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984CF-4C89-4DA7-863E-875126F6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38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38B19"/>
                </a:solidFill>
                <a:latin typeface="Helvetica Neue"/>
                <a:ea typeface="Helvetica Neue"/>
                <a:cs typeface="Helvetica Neue"/>
              </a:rPr>
              <a:t>Graph as propagation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55E88-8AEC-4989-927C-5B685676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048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5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D5B36"/>
                </a:solidFill>
                <a:latin typeface="Helvetica Neue"/>
                <a:ea typeface="Helvetica Neue"/>
                <a:cs typeface="Helvetica Neue"/>
              </a:rPr>
              <a:t>seed → 邻居 → 更远邻居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6D5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D5B36"/>
                </a:solidFill>
                <a:latin typeface="Helvetica Neue"/>
                <a:ea typeface="Helvetica Neue"/>
                <a:cs typeface="Helvetica Neue"/>
              </a:rPr>
              <a:t>PPR 关注图上的可达性，适合找 query 没有直接提及的第二跳、第三跳实体。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6D5B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D5B36"/>
                </a:solidFill>
                <a:latin typeface="Helvetica Neue"/>
                <a:ea typeface="Helvetica Neue"/>
                <a:cs typeface="Helvetica Neue"/>
              </a:rPr>
              <a:t>代价：错误边、超级节点和高 degree 关系也可能被一起放大。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A2C59-3775-4D95-A03E-6F3C1A29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47900"/>
            <a:ext cx="5448300" cy="32861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9525">
            <a:solidFill>
              <a:srgbClr val="9ED4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62BD8-3C5E-44ED-B58F-D25E5C3E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9C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49C77"/>
                </a:solidFill>
                <a:latin typeface="Helvetica Neue"/>
                <a:ea typeface="Helvetica Neue"/>
                <a:cs typeface="Helvetica Neue"/>
              </a:rPr>
              <a:t>PathFusionRAG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ACABE-285C-46A5-B6C6-69DEB5C0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9C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49C77"/>
                </a:solidFill>
                <a:latin typeface="Helvetica Neue"/>
                <a:ea typeface="Helvetica Neue"/>
                <a:cs typeface="Helvetica Neue"/>
              </a:rPr>
              <a:t>Graph as constrained evidence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879FB-8681-4CCF-A605-C20D9341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4619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D6C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D6C60"/>
                </a:solidFill>
                <a:latin typeface="Helvetica Neue"/>
                <a:ea typeface="Helvetica Neue"/>
                <a:cs typeface="Helvetica Neue"/>
              </a:rPr>
              <a:t>先由 BM25 / Dense 形成文本候选</a:t>
            </a:r>
          </a:p>
          <a:p xmlns:a="http://schemas.openxmlformats.org/drawingml/2006/main">
            <a:pPr algn="l">
              <a:defRPr sz="1350" b="0" i="0">
                <a:solidFill>
                  <a:srgbClr val="3D6C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D6C60"/>
                </a:solidFill>
                <a:latin typeface="Helvetica Neue"/>
                <a:ea typeface="Helvetica Neue"/>
                <a:cs typeface="Helvetica Neue"/>
              </a:rPr>
              <a:t>再检查 seed ↔ evidence entity 是否存在 ≤2-hop 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3D6C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D6C60"/>
                </a:solidFill>
                <a:latin typeface="Helvetica Neue"/>
                <a:ea typeface="Helvetica Neue"/>
                <a:cs typeface="Helvetica Neue"/>
              </a:rPr>
              <a:t>图是多跳信号，也是精确性门控。它不让相关性无限扩散，因而在图谱有噪声时保留文本直达通道。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12E05-6186-41E1-92D0-4F68D5BC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333375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66F45-193B-4CDE-B425-A4AB337A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674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75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B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2B46"/>
                </a:solidFill>
                <a:latin typeface="Helvetica Neue"/>
                <a:ea typeface="Helvetica Neue"/>
                <a:cs typeface="Helvetica Neue"/>
              </a:rPr>
              <a:t>同一张图，不同的检索哲学：传播追求召回，约束追求召回与证据可信度的平衡。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9931F-0812-4907-831C-5E1E2967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rPr>
              <a:t>GraphRAG-6 · method comparison and evidence trace</a:t>
            </a:r>
          </a:p>
        </p:txBody>
      </p:sp>
    </p:spTree>
    <p:extLst>
      <p:ext uri="{BB962C8B-B14F-4D97-AF65-F5344CB8AC3E}">
        <p14:creationId xmlns:p14="http://schemas.microsoft.com/office/powerpoint/2010/main" val="1791053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6DB6E7-33C2-4A81-BDC3-058CBEF8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PATHFUSIONRAG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E8E35-6DFC-4CB5-9C88-BE64F669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rPr>
              <a:t>SYSTEM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207BC-4043-4FBC-8A9B-46A1C910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答案之外，系统保存完整的证据链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319E9-2320-4F86-8922-16D1A1E9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前端展示检索实体—关系—文本、子图和路径高亮；后端把同一结构写入 RetrievalTrace。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11268-0974-4E88-9779-F0A1E24E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0CF54-778B-446E-B252-5CC830E6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381250" cy="140970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7A761-A6CE-4E36-BAFF-69DB2F39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D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E12E3-97C4-4125-9582-E5CA06E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实体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C90AE-FE36-46B0-BB7C-DD43B97D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matched_entity_ids</a:t>
            </a:r>
          </a:p>
          <a:p xmlns:a="http://schemas.openxmlformats.org/drawingml/2006/main">
            <a:pPr algn="l">
              <a:def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matched_entities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F3E68-AC89-4112-B3EF-E97C18B2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71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796B0-90E9-4B71-B23A-19BBD903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2381250" cy="140970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5AECF-1CA4-4F6B-B8B7-0D918D8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20F72-00A9-4783-8373-BC2AAF62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14899-AF52-44E4-B663-28DF6C16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0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matched_relationship_ids</a:t>
            </a:r>
          </a:p>
          <a:p xmlns:a="http://schemas.openxmlformats.org/drawingml/2006/main">
            <a:pPr algn="l">
              <a:def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matched_relationships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E7DEB-D64C-449A-BFAB-32B2677D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47B62-8890-4309-9A4B-115EED72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381250" cy="140970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FE50C-1942-4B2E-89CD-81B492A6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7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FF77F-70ED-4EC5-93DA-37F44D73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路径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40AD9-6104-4096-B295-67AE0591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0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3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graph_paths</a:t>
            </a:r>
          </a:p>
          <a:p xmlns:a="http://schemas.openxmlformats.org/drawingml/2006/main">
            <a:pPr algn="l">
              <a:def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entity_ids + relationship_ids + hops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94AAD8-9371-409D-B44F-1D9C98D3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02C490-9AD8-410E-9049-9B713000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381250" cy="140970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1E3324-A627-496E-8A6B-A5825BE9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8B1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A4C4E-AD8D-41B3-9C91-B6133917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908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文本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93027-CE0B-42F8-BE97-9651FB9B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text_evidence</a:t>
            </a:r>
          </a:p>
          <a:p xmlns:a="http://schemas.openxmlformats.org/drawingml/2006/main">
            <a:pPr algn="l">
              <a:def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retrieved_source_paths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0E321F-469A-46A2-9569-DF4174D9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5048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C9D18-2EF7-46BE-9479-FE93CD40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D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1A0548-F94E-4236-A889-FB3E2A52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前端可视化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976635-A128-44BE-927E-492AF360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同一个问题可多选 Basic / Local / Global / LightRAG / HippoRAG 2 / PathFusionRAG。结果页展开证据表、路径表、信号分数和 Graphviz 子图，路径节点与边高亮。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4ED4FC-1C45-40DB-BA8A-A66E68BF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43375"/>
            <a:ext cx="5048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6C9679-C348-4F6D-AC9B-D89ACB22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43375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7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168096-DA48-4DCB-8597-0A712CEF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14825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持久化字段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B45D4F-B0EE-4E26-A509-23E48A9A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67250"/>
            <a:ext cx="470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path_recall 与 evidence_recall 只有在传入 gold path / gold source path 时计算；交互查询无 gold 时保存 null，不把命中条数冒充召回率。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42AB58-93DF-4C6B-8C5F-4394CCCD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rPr>
              <a:t>GraphRAG-6 · method comparison and evidence trace</a:t>
            </a:r>
          </a:p>
        </p:txBody>
      </p:sp>
    </p:spTree>
    <p:extLst>
      <p:ext uri="{BB962C8B-B14F-4D97-AF65-F5344CB8AC3E}">
        <p14:creationId xmlns:p14="http://schemas.microsoft.com/office/powerpoint/2010/main" val="1109383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D8386-B853-4FDC-A361-C0F89DD0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PATHFUSIONRAG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3D559-D95D-482E-926A-8AAA7231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rPr>
              <a:t>GRAPH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D406E-CB73-4706-A0A3-86B811C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三个真实 Enron 案例说明图结构何时有帮助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F5732-A1B9-4A10-9A66-647C30C0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同一 66 封邮件受控分母、同一 LLM 与 embedding；结果来自已保存的 CA01 / CA02 / CA03 对照产物。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41306-3968-402D-97C6-BE28DBED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13AC6-A3D2-4488-91AB-B70B89F4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333750" cy="3095625"/>
          </a:xfrm>
          <a:prstGeom xmlns:a="http://schemas.openxmlformats.org/drawingml/2006/main" prst="roundRect">
            <a:avLst>
              <a:gd name="adj" fmla="val 4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B06EB-09B9-4E22-83DF-347A463C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8B1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C7D86-AF5D-4F0A-95A8-B54B2270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CA01 · 长链压力题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A3F82-EB47-4607-A04E-038EB952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29908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GraphRAG Local：6/20 必需证据</a:t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Vector RAG Basic：4/20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GraphRAG 来源覆盖更宽，但两边都漏掉后期 Direct Access 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结论：图结构有有限召回优势，但不能自动补齐跨时期长链。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65A64-FB60-4749-AEA1-A79092BB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3095625"/>
          </a:xfrm>
          <a:prstGeom xmlns:a="http://schemas.openxmlformats.org/drawingml/2006/main" prst="roundRect">
            <a:avLst>
              <a:gd name="adj" fmla="val 4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58099-2584-4D3A-BB1C-39546BFB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47625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D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6CB71-1768-4C77-9819-2BF684A9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384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CA02 · 窄流程问题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C28CB-58AE-4D35-B254-4B131579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90825"/>
            <a:ext cx="29908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GraphRAG Local：3/9</a:t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Vector RAG Basic：4/9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GraphRAG 唯一 source path：23</a:t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Vector RAG 唯一 source path：10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结论：GraphRAG 叙事更宽，Vector 对数据库/网站直接证据略好。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9DE73-5C23-415F-ACEC-ECD4C6A7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3333750" cy="3095625"/>
          </a:xfrm>
          <a:prstGeom xmlns:a="http://schemas.openxmlformats.org/drawingml/2006/main" prst="roundRect">
            <a:avLst>
              <a:gd name="adj" fmla="val 4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F160A-3165-449C-982C-F635B20B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47625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7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3FB9F-2964-4BD5-9E4E-DDF1F78E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384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CA03 · 跨阶段演化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9D53B-74CB-4D80-A7AB-C6C9FD82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90825"/>
            <a:ext cx="29908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GraphRAG Local：3/8</a:t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Vector RAG Basic：2/8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GraphRAG 触及 presentation → comments → rehearing 三个阶段；Vector 主要停留在前段。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结论：这是有条件的 GraphRAG 正例，答案仍需人工核验身份与因果边界。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2D388-D8C3-470C-B122-214BDED0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BD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4126C-DB86-4B56-B4A1-0FEA3253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10429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375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B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2B46"/>
                </a:solidFill>
                <a:latin typeface="Helvetica Neue"/>
                <a:ea typeface="Helvetica Neue"/>
                <a:cs typeface="Helvetica Neue"/>
              </a:rPr>
              <a:t>GraphRAG 的真实价值：在跨阶段、多实体关系题上改善阶段覆盖；它不是每个窄问题都更优，也不等于答案无需核验。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2B5EC-E910-4AAD-A626-4AAF2399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rPr>
              <a:t>Evidence source: experiments/enron_california_crisis · CA01 / CA02 / CA03</a:t>
            </a:r>
          </a:p>
        </p:txBody>
      </p:sp>
    </p:spTree>
    <p:extLst>
      <p:ext uri="{BB962C8B-B14F-4D97-AF65-F5344CB8AC3E}">
        <p14:creationId xmlns:p14="http://schemas.microsoft.com/office/powerpoint/2010/main" val="6929202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5FB3A-A797-493E-9EBB-C3010690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PATHFUSIONRAG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B84D4-8184-4EB6-BC4E-95217953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rPr>
              <a:t>EVALUATION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0E483-5737-4043-86F1-D88CDAD7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六个数据集把方法优势拉开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59FCA-5827-4F8B-A40F-49C3A08C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从真实搜索事实到连续多跳、长论文和长会议，覆盖不同检索粒度。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35471-B649-4841-8351-6627E5DB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08204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048000"/>
                <a:gridCol w="2667000"/>
                <a:gridCol w="3152775"/>
              </a:tblGrid>
              <a:tr h="45583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任务特点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主要考验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更匹配的机制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Natural Questions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真实 Google 查询，开放域 QA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直接事实检索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Basic / PathFusionRAG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HotpotQA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多个 supporting docs 与 facts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跨文档两跳与解释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HippoRAG 2 / PathFusionRAG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2WikiMultiHopQA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Wikipedia + Wikidata，显式 reasoning path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实体、关系、path recall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HippoRAG 2 / PathFusionRAG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MuSiQue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2–4 hop，减少 shortcut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连续图传播能力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HippoRAG 2；PathFusion 需 adaptive hop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Qasper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科研论文，答案跨 section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长文档语义证据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Dense / PathFusionRAG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QMSum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多人长会议，query-focused summary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全局主题覆盖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LightRAG / Global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6B4F9-AACC-4A9C-B573-3CF63133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C6D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02888-FE0F-4076-83F7-8EA550BD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9775"/>
            <a:ext cx="10429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B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2B46"/>
                </a:solidFill>
                <a:latin typeface="Helvetica Neue"/>
                <a:ea typeface="Helvetica Neue"/>
                <a:cs typeface="Helvetica Neue"/>
              </a:rPr>
              <a:t>评测公平性：相同数据、问题集、embedding、LLM、prompt、context budget、answer protocol 与指标。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1E526-8C78-44F0-9DA4-9FDBE05B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rPr>
              <a:t>GraphRAG-6 · method comparison and evidence trace</a:t>
            </a:r>
          </a:p>
        </p:txBody>
      </p:sp>
    </p:spTree>
    <p:extLst>
      <p:ext uri="{BB962C8B-B14F-4D97-AF65-F5344CB8AC3E}">
        <p14:creationId xmlns:p14="http://schemas.microsoft.com/office/powerpoint/2010/main" val="20927919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58BE6-C0F9-48D9-A3DF-CFA6DAFA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PATHFUSIONRAG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587B6-155E-4AED-91B9-232455BF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rPr>
              <a:t>ILLUSTRATIVE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94C22-57DB-447E-BE25-942B1876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汇报版对照分数呈现“综合最好，而非处处第一”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899BB-E712-4922-8C48-A4AA42DC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这张表沿用用户提供的数字，用于讲清方法—场景关系；当前仓库尚未统一重跑这六个 benchmark。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C3020-74CB-4FAE-B9EA-C9EA0D8C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2209800"/>
          <a:ext xmlns:a="http://schemas.openxmlformats.org/drawingml/2006/main" cx="108204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1200150"/>
                <a:gridCol w="1200150"/>
                <a:gridCol w="1200150"/>
                <a:gridCol w="1390650"/>
                <a:gridCol w="1524000"/>
                <a:gridCol w="2066925"/>
              </a:tblGrid>
              <a:tr h="407194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Basic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Global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LightRAG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HippoRAG 2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PathFusionRAG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</a:tr>
              <a:tr h="40719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Natural Questions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76.8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74.5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73.4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71.5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77.4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</a:tr>
              <a:tr h="40719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HotpotQA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58.2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67.5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61.8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69.1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73.8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75.6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</a:tr>
              <a:tr h="40719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2WikiMultiHopQA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55.3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65.7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59.6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67.0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76.1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77.5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</a:tr>
              <a:tr h="40719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MuSiQue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50.8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59.4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54.9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62.1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70.6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68.9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</a:tr>
              <a:tr h="40719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Qasper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61.7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65.9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63.4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70.1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</a:tr>
              <a:tr h="40719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QMSum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53.6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60.2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71.4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73.2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61.7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68.5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</a:tr>
              <a:tr h="40719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59.4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65.5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62.9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73.0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18565-5F69-40AB-B0F6-6FAD10E7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ACF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A7893-5B11-459C-82F9-AB9D690C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29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25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725A25"/>
                </a:solidFill>
                <a:latin typeface="Helvetica Neue"/>
                <a:ea typeface="Helvetica Neue"/>
                <a:cs typeface="Helvetica Neue"/>
              </a:rPr>
              <a:t>数据状态：用户提供的汇报版示意对照，待用统一评测脚本复核，不等同于本仓库已验证实验结果。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31CA1-65B7-4F67-8ACD-BDEC5485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rPr>
              <a:t>GraphRAG-6 · method comparison and evidence trace</a:t>
            </a:r>
          </a:p>
        </p:txBody>
      </p:sp>
    </p:spTree>
    <p:extLst>
      <p:ext uri="{BB962C8B-B14F-4D97-AF65-F5344CB8AC3E}">
        <p14:creationId xmlns:p14="http://schemas.microsoft.com/office/powerpoint/2010/main" val="10383536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41960-586C-47E1-BD86-8D640161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E6BD6"/>
                </a:solidFill>
                <a:latin typeface="Helvetica Neue"/>
                <a:ea typeface="Helvetica Neue"/>
                <a:cs typeface="Helvetica Neue"/>
              </a:rPr>
              <a:t>PATHFUSIONRAG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473F1-7372-4430-A875-6E67A4F6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8A6B4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D1659-7B4A-41B4-850D-6E5E9FEE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PathFusionRAG 的理论优势是稳定的折中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7FB75-3543-447D-A06B-7BFD45BE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它把图结构用于受约束的证据连接，而不是让相关性在整张图上无限扩散。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4F6B4-B8B8-4D81-9C1F-51A8CDB3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B4"/>
          </a:solidFill>
          <a:ln xmlns:a="http://schemas.openxmlformats.org/drawingml/2006/main" w="0">
            <a:noFill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047750"/>
                <a:gridCol w="3048000"/>
              </a:tblGrid>
              <a:tr h="4762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Average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机制解释</a:t>
                      </a:r>
                    </a:p>
                  </a:txBody>
                  <a:tcPr marL="91440" marR="91440" marT="45720" marB="45720">
                    <a:solidFill>
                      <a:srgbClr val="102B4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Basic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59.4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直接事实检索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GraphRAG Local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65.5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局部实体关系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GraphRAG Global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62.9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社区级总结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LightRAG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68.8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高低层覆盖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HippoRAG 2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隐式多跳传播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PathFusionRAG</a:t>
                      </a:r>
                    </a:p>
                  </a:txBody>
                  <a:tcPr marL="91440" marR="91440" marT="45720" marB="45720">
                    <a:solidFill>
                      <a:srgbClr val="E5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73.0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三路信号 + 有限路径</a:t>
                      </a:r>
                    </a:p>
                  </a:txBody>
                  <a:tcPr marL="91440" marR="91440" marT="45720" marB="45720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37655-440F-4E8D-8271-C3F08BD1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66950"/>
            <a:ext cx="41719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34666-61B5-4D0C-A063-5DDF4626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2243A"/>
                </a:solidFill>
                <a:latin typeface="Helvetica Neue"/>
                <a:ea typeface="Helvetica Neue"/>
                <a:cs typeface="Helvetica Neue"/>
              </a:rPr>
              <a:t>场景化结论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82AC3-A564-441C-8460-4E9DA786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34766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Natural Questions</a:t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Basic / PathFusionRAG 适合直接事实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HotpotQA / 2WikiMultiHopQA</a:t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路径与跨文档能力带来提升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MuSiQue</a:t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当前最大 2-hop，HippoRAG 2 可能更高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QMSum</a:t>
            </a:r>
          </a:p>
          <a:p xmlns:a="http://schemas.openxmlformats.org/drawingml/2006/main">
            <a:pPr algn="l">
              <a:def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D80"/>
                </a:solidFill>
                <a:latin typeface="Helvetica Neue"/>
                <a:ea typeface="Helvetica Neue"/>
                <a:cs typeface="Helvetica Neue"/>
              </a:rPr>
              <a:t>Global / LightRAG 更适合全局主题覆盖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0CB05-5C2C-4CB0-88B2-42EB9BC3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5F6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91930-FC45-4863-B02B-CD731912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15025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75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49C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49C77"/>
                </a:solidFill>
                <a:latin typeface="Helvetica Neue"/>
                <a:ea typeface="Helvetica Neue"/>
                <a:cs typeface="Helvetica Neue"/>
              </a:rPr>
              <a:t>下一步：adaptive max-hop、固定验证集消融、六个 benchmark 统一重跑。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A89F5-4939-4960-A96C-A99425D3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796A8"/>
                </a:solidFill>
                <a:latin typeface="Helvetica Neue"/>
                <a:ea typeface="Helvetica Neue"/>
                <a:cs typeface="Helvetica Neue"/>
              </a:rPr>
              <a:t>GraphRAG-6 · method comparison and evidence trace</a:t>
            </a:r>
          </a:p>
        </p:txBody>
      </p:sp>
    </p:spTree>
    <p:extLst>
      <p:ext uri="{BB962C8B-B14F-4D97-AF65-F5344CB8AC3E}">
        <p14:creationId xmlns:p14="http://schemas.microsoft.com/office/powerpoint/2010/main" val="551557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2026-09-14T04:14:35.0380000Z</dcterms:created>
  <dcterms:modified xsi:type="dcterms:W3CDTF">2026-09-14T04:14:35.0380000Z</dcterms:modified>
</coreProperties>
</file>